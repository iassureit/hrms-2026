
<file path=[Content_Types].xml><?xml version="1.0" encoding="utf-8"?>
<Types xmlns="http://schemas.openxmlformats.org/package/2006/content-types">
  <Default ContentType="image/png" Extension="png"/>
  <Default ContentType="image/jpeg" Extension="jpeg"/>
  <Default ContentType="application/vnd.openxmlformats-package.relationships+xml" Extension="rels"/>
  <Default ContentType="application/xml" Extension="xml"/>
  <Override ContentType="application/vnd.openxmlformats-officedocument.presentationml.presentation.main+xml" PartName="/ppt/presentation.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slide+xml" PartName="/ppt/slides/slide38.xml"/>
  <Override ContentType="application/vnd.openxmlformats-officedocument.presentationml.slide+xml" PartName="/ppt/slides/slide39.xml"/>
  <Override ContentType="application/vnd.openxmlformats-officedocument.presentationml.slide+xml" PartName="/ppt/slides/slide40.xml"/>
  <Override ContentType="application/vnd.openxmlformats-officedocument.presentationml.slide+xml" PartName="/ppt/slides/slide41.xml"/>
  <Override ContentType="application/vnd.openxmlformats-officedocument.presentationml.slide+xml" PartName="/ppt/slides/slide42.xml"/>
  <Override ContentType="application/vnd.openxmlformats-officedocument.presentationml.slide+xml" PartName="/ppt/slides/slide43.xml"/>
  <Override ContentType="application/vnd.openxmlformats-officedocument.presentationml.slide+xml" PartName="/ppt/slides/slide44.xml"/>
  <Override ContentType="application/vnd.openxmlformats-officedocument.presentationml.slide+xml" PartName="/ppt/slides/slide45.xml"/>
  <Override ContentType="application/vnd.openxmlformats-officedocument.presentationml.slide+xml" PartName="/ppt/slides/slide46.xml"/>
  <Override ContentType="application/vnd.openxmlformats-officedocument.presentationml.slide+xml" PartName="/ppt/slides/slide47.xml"/>
  <Override ContentType="application/vnd.openxmlformats-officedocument.presentationml.slide+xml" PartName="/ppt/slides/slide48.xml"/>
  <Override ContentType="application/vnd.openxmlformats-officedocument.presentationml.slide+xml" PartName="/ppt/slides/slide49.xml"/>
  <Override ContentType="application/vnd.openxmlformats-officedocument.presentationml.slide+xml" PartName="/ppt/slides/slide50.xml"/>
  <Override ContentType="application/vnd.openxmlformats-officedocument.presentationml.slide+xml" PartName="/ppt/slides/slide51.xml"/>
  <Override ContentType="application/vnd.openxmlformats-officedocument.presentationml.slide+xml" PartName="/ppt/slides/slide52.xml"/>
  <Override ContentType="application/vnd.openxmlformats-officedocument.presentationml.slide+xml" PartName="/ppt/slides/slide53.xml"/>
  <Override ContentType="application/vnd.openxmlformats-officedocument.presentationml.slide+xml" PartName="/ppt/slides/slide54.xml"/>
  <Override ContentType="application/vnd.openxmlformats-officedocument.presentationml.slide+xml" PartName="/ppt/slides/slide55.xml"/>
  <Override ContentType="application/vnd.openxmlformats-officedocument.presentationml.slide+xml" PartName="/ppt/slides/slide56.xml"/>
  <Override ContentType="application/vnd.openxmlformats-officedocument.presentationml.slide+xml" PartName="/ppt/slides/slide57.xml"/>
  <Override ContentType="application/vnd.openxmlformats-officedocument.presentationml.slide+xml" PartName="/ppt/slides/slide58.xml"/>
  <Override ContentType="application/vnd.openxmlformats-officedocument.presentationml.slide+xml" PartName="/ppt/slides/slide59.xml"/>
  <Override ContentType="application/vnd.openxmlformats-officedocument.presentationml.slide+xml" PartName="/ppt/slides/slide60.xml"/>
  <Override ContentType="application/vnd.openxmlformats-officedocument.presentationml.slide+xml" PartName="/ppt/slides/slide61.xml"/>
  <Override ContentType="application/vnd.openxmlformats-officedocument.presentationml.slide+xml" PartName="/ppt/slides/slide62.xml"/>
  <Override ContentType="application/vnd.openxmlformats-officedocument.presentationml.slide+xml" PartName="/ppt/slides/slide63.xml"/>
  <Override ContentType="application/vnd.openxmlformats-officedocument.presentationml.slide+xml" PartName="/ppt/slides/slide64.xml"/>
  <Override ContentType="application/vnd.openxmlformats-officedocument.presentationml.slide+xml" PartName="/ppt/slides/slide65.xml"/>
  <Override ContentType="application/vnd.openxmlformats-officedocument.presentationml.slide+xml" PartName="/ppt/slides/slide66.xml"/>
  <Override ContentType="application/vnd.openxmlformats-officedocument.presentationml.slide+xml" PartName="/ppt/slides/slide67.xml"/>
  <Override ContentType="application/vnd.openxmlformats-officedocument.presentationml.slide+xml" PartName="/ppt/slides/slide68.xml"/>
  <Override ContentType="application/vnd.openxmlformats-officedocument.presentationml.slide+xml" PartName="/ppt/slides/slide69.xml"/>
  <Override ContentType="application/vnd.openxmlformats-officedocument.presentationml.presProps+xml" PartName="/ppt/presProps.xml"/>
  <Override ContentType="application/vnd.openxmlformats-officedocument.presentationml.viewProps+xml" PartName="/ppt/viewProps.xml"/>
  <Override ContentType="application/vnd.openxmlformats-officedocument.theme+xml" PartName="/ppt/theme/theme1.xml"/>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package.core-properties+xml" PartName="/docProps/core.xml"/>
  <Override ContentType="application/vnd.openxmlformats-officedocument.extended-properties+xml" PartName="/docProps/app.xml"/>
  <Override ContentType="application/vnd.openxmlformats-officedocument.custom-properties+xml" PartName="/docProps/custom.xml"/>
</Types>
</file>

<file path=_rels/.rels><?xml version="1.0" encoding="UTF-8" standalone="yes" ?><Relationships xmlns="http://schemas.openxmlformats.org/package/2006/relationships"><Relationship Id="rId3" Target="docProps/core.xml" Type="http://schemas.openxmlformats.org/package/2006/relationships/metadata/core-properties"/><Relationship Id="rId2" Target="docProps/thumbnail.jpeg" Type="http://schemas.openxmlformats.org/package/2006/relationships/metadata/thumbnail"/><Relationship Id="rId1" Target="ppt/presentation.xml" Type="http://schemas.openxmlformats.org/officeDocument/2006/relationships/officeDocument"/><Relationship Id="rId4" Target="docProps/app.xml" Type="http://schemas.openxmlformats.org/officeDocument/2006/relationships/extended-properties"/><Relationship Id="rId5" Target="docProps/custom.xml" Type="http://schemas.openxmlformats.org/officeDocument/2006/relationships/custom-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3" r:id="rId3"/>
    <p:sldId id="264" r:id="rId4"/>
    <p:sldId id="265" r:id="rId5"/>
    <p:sldId id="266" r:id="rId6"/>
    <p:sldId id="267" r:id="rId7"/>
    <p:sldId id="268" r:id="rId8"/>
    <p:sldId id="269" r:id="rId9"/>
    <p:sldId id="270" r:id="rId10"/>
    <p:sldId id="271" r:id="rId11"/>
    <p:sldId id="323" r:id="rId12"/>
    <p:sldId id="272" r:id="rId13"/>
    <p:sldId id="273" r:id="rId14"/>
    <p:sldId id="262" r:id="rId15"/>
    <p:sldId id="257" r:id="rId16"/>
    <p:sldId id="324" r:id="rId17"/>
    <p:sldId id="325" r:id="rId18"/>
    <p:sldId id="258" r:id="rId19"/>
    <p:sldId id="259" r:id="rId20"/>
    <p:sldId id="260" r:id="rId21"/>
    <p:sldId id="289" r:id="rId22"/>
    <p:sldId id="290" r:id="rId23"/>
    <p:sldId id="291" r:id="rId24"/>
    <p:sldId id="261"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92" r:id="rId40"/>
    <p:sldId id="293" r:id="rId41"/>
    <p:sldId id="294" r:id="rId42"/>
    <p:sldId id="295" r:id="rId43"/>
    <p:sldId id="296" r:id="rId44"/>
    <p:sldId id="297" r:id="rId45"/>
    <p:sldId id="298" r:id="rId46"/>
    <p:sldId id="299" r:id="rId47"/>
    <p:sldId id="300" r:id="rId48"/>
    <p:sldId id="301" r:id="rId49"/>
    <p:sldId id="302" r:id="rId50"/>
    <p:sldId id="303" r:id="rId51"/>
    <p:sldId id="304" r:id="rId52"/>
    <p:sldId id="305" r:id="rId53"/>
    <p:sldId id="306" r:id="rId54"/>
    <p:sldId id="307" r:id="rId55"/>
    <p:sldId id="308" r:id="rId56"/>
    <p:sldId id="309" r:id="rId57"/>
    <p:sldId id="310" r:id="rId58"/>
    <p:sldId id="311" r:id="rId59"/>
    <p:sldId id="312" r:id="rId60"/>
    <p:sldId id="313" r:id="rId61"/>
    <p:sldId id="314" r:id="rId62"/>
    <p:sldId id="315" r:id="rId63"/>
    <p:sldId id="316" r:id="rId64"/>
    <p:sldId id="317" r:id="rId65"/>
    <p:sldId id="318" r:id="rId66"/>
    <p:sldId id="319" r:id="rId67"/>
    <p:sldId id="320" r:id="rId68"/>
    <p:sldId id="321" r:id="rId69"/>
    <p:sldId id="322" r:id="rId7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62" autoAdjust="0"/>
    <p:restoredTop sz="94660"/>
  </p:normalViewPr>
  <p:slideViewPr>
    <p:cSldViewPr snapToGrid="0">
      <p:cViewPr varScale="1">
        <p:scale>
          <a:sx n="73" d="100"/>
          <a:sy n="73" d="100"/>
        </p:scale>
        <p:origin x="594"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C079F459-38E9-44F7-99D4-B176F37000ED}" type="datetimeFigureOut">
              <a:rPr lang="en-US" smtClean="0"/>
              <a:t>4/22/2025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220C0D-2C58-42B4-B1E3-217DC2308B2B}" type="slidenum">
              <a:rPr lang="en-US" smtClean="0"/>
              <a:t>‹#›</a:t>
            </a:fld>
            <a:endParaRPr lang="en-US"/>
          </a:p>
        </p:txBody>
      </p:sp>
    </p:spTree>
    <p:extLst>
      <p:ext uri="{BB962C8B-B14F-4D97-AF65-F5344CB8AC3E}">
        <p14:creationId xmlns:p14="http://schemas.microsoft.com/office/powerpoint/2010/main" val="22018370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079F459-38E9-44F7-99D4-B176F37000ED}" type="datetimeFigureOut">
              <a:rPr lang="en-US" smtClean="0"/>
              <a:t>4/22/2025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220C0D-2C58-42B4-B1E3-217DC2308B2B}" type="slidenum">
              <a:rPr lang="en-US" smtClean="0"/>
              <a:t>‹#›</a:t>
            </a:fld>
            <a:endParaRPr lang="en-US"/>
          </a:p>
        </p:txBody>
      </p:sp>
    </p:spTree>
    <p:extLst>
      <p:ext uri="{BB962C8B-B14F-4D97-AF65-F5344CB8AC3E}">
        <p14:creationId xmlns:p14="http://schemas.microsoft.com/office/powerpoint/2010/main" val="30435752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C079F459-38E9-44F7-99D4-B176F37000ED}" type="datetimeFigureOut">
              <a:rPr lang="en-US" smtClean="0"/>
              <a:t>4/22/2025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220C0D-2C58-42B4-B1E3-217DC2308B2B}" type="slidenum">
              <a:rPr lang="en-US" smtClean="0"/>
              <a:t>‹#›</a:t>
            </a:fld>
            <a:endParaRPr lang="en-US"/>
          </a:p>
        </p:txBody>
      </p:sp>
    </p:spTree>
    <p:extLst>
      <p:ext uri="{BB962C8B-B14F-4D97-AF65-F5344CB8AC3E}">
        <p14:creationId xmlns:p14="http://schemas.microsoft.com/office/powerpoint/2010/main" val="2686286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C079F459-38E9-44F7-99D4-B176F37000ED}" type="datetimeFigureOut">
              <a:rPr lang="en-US" smtClean="0"/>
              <a:t>4/22/2025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220C0D-2C58-42B4-B1E3-217DC2308B2B}" type="slidenum">
              <a:rPr lang="en-US" smtClean="0"/>
              <a:t>‹#›</a:t>
            </a:fld>
            <a:endParaRPr lang="en-US"/>
          </a:p>
        </p:txBody>
      </p:sp>
    </p:spTree>
    <p:extLst>
      <p:ext uri="{BB962C8B-B14F-4D97-AF65-F5344CB8AC3E}">
        <p14:creationId xmlns:p14="http://schemas.microsoft.com/office/powerpoint/2010/main" val="38873108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C079F459-38E9-44F7-99D4-B176F37000ED}" type="datetimeFigureOut">
              <a:rPr lang="en-US" smtClean="0"/>
              <a:t>4/22/2025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D220C0D-2C58-42B4-B1E3-217DC2308B2B}" type="slidenum">
              <a:rPr lang="en-US" smtClean="0"/>
              <a:t>‹#›</a:t>
            </a:fld>
            <a:endParaRPr lang="en-US"/>
          </a:p>
        </p:txBody>
      </p:sp>
    </p:spTree>
    <p:extLst>
      <p:ext uri="{BB962C8B-B14F-4D97-AF65-F5344CB8AC3E}">
        <p14:creationId xmlns:p14="http://schemas.microsoft.com/office/powerpoint/2010/main" val="28704351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C079F459-38E9-44F7-99D4-B176F37000ED}" type="datetimeFigureOut">
              <a:rPr lang="en-US" smtClean="0"/>
              <a:t>4/22/2025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D220C0D-2C58-42B4-B1E3-217DC2308B2B}" type="slidenum">
              <a:rPr lang="en-US" smtClean="0"/>
              <a:t>‹#›</a:t>
            </a:fld>
            <a:endParaRPr lang="en-US"/>
          </a:p>
        </p:txBody>
      </p:sp>
    </p:spTree>
    <p:extLst>
      <p:ext uri="{BB962C8B-B14F-4D97-AF65-F5344CB8AC3E}">
        <p14:creationId xmlns:p14="http://schemas.microsoft.com/office/powerpoint/2010/main" val="22816958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079F459-38E9-44F7-99D4-B176F37000ED}" type="datetimeFigureOut">
              <a:rPr lang="en-US" smtClean="0"/>
              <a:t>4/22/2025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D220C0D-2C58-42B4-B1E3-217DC2308B2B}" type="slidenum">
              <a:rPr lang="en-US" smtClean="0"/>
              <a:t>‹#›</a:t>
            </a:fld>
            <a:endParaRPr lang="en-US"/>
          </a:p>
        </p:txBody>
      </p:sp>
    </p:spTree>
    <p:extLst>
      <p:ext uri="{BB962C8B-B14F-4D97-AF65-F5344CB8AC3E}">
        <p14:creationId xmlns:p14="http://schemas.microsoft.com/office/powerpoint/2010/main" val="14817944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C079F459-38E9-44F7-99D4-B176F37000ED}" type="datetimeFigureOut">
              <a:rPr lang="en-US" smtClean="0"/>
              <a:t>4/22/2025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220C0D-2C58-42B4-B1E3-217DC2308B2B}" type="slidenum">
              <a:rPr lang="en-US" smtClean="0"/>
              <a:t>‹#›</a:t>
            </a:fld>
            <a:endParaRPr lang="en-US"/>
          </a:p>
        </p:txBody>
      </p:sp>
    </p:spTree>
    <p:extLst>
      <p:ext uri="{BB962C8B-B14F-4D97-AF65-F5344CB8AC3E}">
        <p14:creationId xmlns:p14="http://schemas.microsoft.com/office/powerpoint/2010/main" val="6062657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C079F459-38E9-44F7-99D4-B176F37000ED}" type="datetimeFigureOut">
              <a:rPr lang="en-US" smtClean="0"/>
              <a:t>4/22/2025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220C0D-2C58-42B4-B1E3-217DC2308B2B}" type="slidenum">
              <a:rPr lang="en-US" smtClean="0"/>
              <a:t>‹#›</a:t>
            </a:fld>
            <a:endParaRPr lang="en-US"/>
          </a:p>
        </p:txBody>
      </p:sp>
    </p:spTree>
    <p:extLst>
      <p:ext uri="{BB962C8B-B14F-4D97-AF65-F5344CB8AC3E}">
        <p14:creationId xmlns:p14="http://schemas.microsoft.com/office/powerpoint/2010/main" val="3678443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079F459-38E9-44F7-99D4-B176F37000ED}" type="datetimeFigureOut">
              <a:rPr lang="en-US" smtClean="0"/>
              <a:t>4/22/2025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220C0D-2C58-42B4-B1E3-217DC2308B2B}" type="slidenum">
              <a:rPr lang="en-US" smtClean="0"/>
              <a:t>‹#›</a:t>
            </a:fld>
            <a:endParaRPr lang="en-US"/>
          </a:p>
        </p:txBody>
      </p:sp>
    </p:spTree>
    <p:extLst>
      <p:ext uri="{BB962C8B-B14F-4D97-AF65-F5344CB8AC3E}">
        <p14:creationId xmlns:p14="http://schemas.microsoft.com/office/powerpoint/2010/main" val="39107685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079F459-38E9-44F7-99D4-B176F37000ED}" type="datetimeFigureOut">
              <a:rPr lang="en-US" smtClean="0"/>
              <a:t>4/22/2025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220C0D-2C58-42B4-B1E3-217DC2308B2B}" type="slidenum">
              <a:rPr lang="en-US" smtClean="0"/>
              <a:t>‹#›</a:t>
            </a:fld>
            <a:endParaRPr lang="en-US"/>
          </a:p>
        </p:txBody>
      </p:sp>
    </p:spTree>
    <p:extLst>
      <p:ext uri="{BB962C8B-B14F-4D97-AF65-F5344CB8AC3E}">
        <p14:creationId xmlns:p14="http://schemas.microsoft.com/office/powerpoint/2010/main" val="23970177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079F459-38E9-44F7-99D4-B176F37000ED}" type="datetimeFigureOut">
              <a:rPr lang="en-US" smtClean="0"/>
              <a:t>4/22/2025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220C0D-2C58-42B4-B1E3-217DC2308B2B}" type="slidenum">
              <a:rPr lang="en-US" smtClean="0"/>
              <a:t>‹#›</a:t>
            </a:fld>
            <a:endParaRPr lang="en-US"/>
          </a:p>
        </p:txBody>
      </p:sp>
    </p:spTree>
    <p:extLst>
      <p:ext uri="{BB962C8B-B14F-4D97-AF65-F5344CB8AC3E}">
        <p14:creationId xmlns:p14="http://schemas.microsoft.com/office/powerpoint/2010/main" val="7871154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arget="../media/image1.jpeg" Type="http://schemas.openxmlformats.org/officeDocument/2006/relationships/image"/><Relationship Id="rId1" Target="../slideLayouts/slideLayout2.xml" Type="http://schemas.openxmlformats.org/officeDocument/2006/relationships/slideLayout"/></Relationships>
</file>

<file path=ppt/slides/_rels/slide4.xml.rels><?xml version="1.0" encoding="UTF-8" standalone="yes" ?><Relationships xmlns="http://schemas.openxmlformats.org/package/2006/relationships"><Relationship Id="rId2" Target="../media/image2.jpeg" Type="http://schemas.openxmlformats.org/officeDocument/2006/relationships/image"/><Relationship Id="rId1" Target="../slideLayouts/slideLayout2.xml" Type="http://schemas.openxmlformats.org/officeDocument/2006/relationships/slideLayout"/></Relationships>
</file>

<file path=ppt/slides/_rels/slide5.xml.rels><?xml version="1.0" encoding="UTF-8" standalone="yes" ?><Relationships xmlns="http://schemas.openxmlformats.org/package/2006/relationships"><Relationship Id="rId2" Target="../media/image3.jpeg" Type="http://schemas.openxmlformats.org/officeDocument/2006/relationships/image"/><Relationship Id="rId1" Target="../slideLayouts/slideLayout2.xml" Type="http://schemas.openxmlformats.org/officeDocument/2006/relationships/slideLayout"/></Relationships>
</file>

<file path=ppt/slides/_rels/slide6.xml.rels><?xml version="1.0" encoding="UTF-8" standalone="yes" ?><Relationships xmlns="http://schemas.openxmlformats.org/package/2006/relationships"><Relationship Id="rId2" Target="../media/image4.jpeg" Type="http://schemas.openxmlformats.org/officeDocument/2006/relationships/image"/><Relationship Id="rId1" Target="../slideLayouts/slideLayout2.xml" Type="http://schemas.openxmlformats.org/officeDocument/2006/relationships/slideLayout"/></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2841897"/>
            <a:ext cx="9144000" cy="1174206"/>
          </a:xfrm>
        </p:spPr>
        <p:txBody>
          <a:bodyPr>
            <a:normAutofit fontScale="90000"/>
          </a:bodyPr>
          <a:lstStyle/>
          <a:p>
            <a:r>
              <a:rPr lang="en-US" sz="8000" b="1" spc="300" dirty="0" smtClean="0">
                <a:solidFill>
                  <a:srgbClr val="92D050"/>
                </a:solidFill>
                <a:effectLst>
                  <a:outerShdw blurRad="38100" dist="38100" dir="2700000" algn="tl">
                    <a:srgbClr val="000000">
                      <a:alpha val="43137"/>
                    </a:srgbClr>
                  </a:outerShdw>
                </a:effectLst>
              </a:rPr>
              <a:t>OPERATION</a:t>
            </a:r>
            <a:r>
              <a:rPr lang="en-US" sz="8000" b="1" dirty="0" smtClean="0">
                <a:solidFill>
                  <a:srgbClr val="00B050"/>
                </a:solidFill>
                <a:effectLst>
                  <a:outerShdw blurRad="38100" dist="38100" dir="2700000" algn="tl">
                    <a:srgbClr val="000000">
                      <a:alpha val="43137"/>
                    </a:srgbClr>
                  </a:outerShdw>
                </a:effectLst>
              </a:rPr>
              <a:t> </a:t>
            </a:r>
            <a:r>
              <a:rPr lang="en-US" sz="8000" b="1" spc="300" dirty="0" smtClean="0">
                <a:solidFill>
                  <a:srgbClr val="92D050"/>
                </a:solidFill>
                <a:effectLst>
                  <a:outerShdw blurRad="38100" dist="38100" dir="2700000" algn="tl">
                    <a:srgbClr val="000000">
                      <a:alpha val="43137"/>
                    </a:srgbClr>
                  </a:outerShdw>
                </a:effectLst>
              </a:rPr>
              <a:t>MANUAL</a:t>
            </a:r>
            <a:endParaRPr lang="en-US" sz="8000" b="1" spc="300" dirty="0">
              <a:solidFill>
                <a:srgbClr val="92D05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6978099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319338" y="1576388"/>
            <a:ext cx="7553325" cy="37052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200" dirty="0" smtClean="0"/>
              <a:t>System Security</a:t>
            </a:r>
            <a:endParaRPr lang="en-US" sz="7200" dirty="0"/>
          </a:p>
        </p:txBody>
      </p:sp>
    </p:spTree>
    <p:extLst>
      <p:ext uri="{BB962C8B-B14F-4D97-AF65-F5344CB8AC3E}">
        <p14:creationId xmlns:p14="http://schemas.microsoft.com/office/powerpoint/2010/main" val="40737590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t>
            </a:r>
            <a:endParaRPr lang="en-IN"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 y="0"/>
            <a:ext cx="12192000" cy="6858000"/>
          </a:xfrm>
        </p:spPr>
      </p:pic>
      <p:sp>
        <p:nvSpPr>
          <p:cNvPr id="5" name="Rectangle 4"/>
          <p:cNvSpPr/>
          <p:nvPr/>
        </p:nvSpPr>
        <p:spPr>
          <a:xfrm>
            <a:off x="838200" y="5421086"/>
            <a:ext cx="10515600" cy="1436914"/>
          </a:xfrm>
          <a:prstGeom prst="rect">
            <a:avLst/>
          </a:prstGeom>
          <a:solidFill>
            <a:srgbClr val="FFFF00"/>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2800" dirty="0" smtClean="0">
                <a:solidFill>
                  <a:schemeClr val="tx1"/>
                </a:solidFill>
              </a:rPr>
              <a:t>This is the Login Page of </a:t>
            </a:r>
            <a:r>
              <a:rPr lang="en-US" sz="2800" dirty="0" err="1" smtClean="0">
                <a:solidFill>
                  <a:schemeClr val="tx1"/>
                </a:solidFill>
              </a:rPr>
              <a:t>Lupin</a:t>
            </a:r>
            <a:r>
              <a:rPr lang="en-US" sz="2800" dirty="0" smtClean="0">
                <a:solidFill>
                  <a:schemeClr val="tx1"/>
                </a:solidFill>
              </a:rPr>
              <a:t> MIS. Fill your correct credentials into the input boxes (Username and Password) and then click on Login button.</a:t>
            </a:r>
            <a:endParaRPr lang="en-IN" sz="2800" dirty="0">
              <a:solidFill>
                <a:schemeClr val="tx1"/>
              </a:solidFill>
            </a:endParaRPr>
          </a:p>
        </p:txBody>
      </p:sp>
    </p:spTree>
    <p:extLst>
      <p:ext uri="{BB962C8B-B14F-4D97-AF65-F5344CB8AC3E}">
        <p14:creationId xmlns:p14="http://schemas.microsoft.com/office/powerpoint/2010/main" val="36272706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976" y="0"/>
            <a:ext cx="12197952" cy="6858000"/>
          </a:xfrm>
        </p:spPr>
      </p:pic>
      <p:sp>
        <p:nvSpPr>
          <p:cNvPr id="5" name="Rectangle 4"/>
          <p:cNvSpPr/>
          <p:nvPr/>
        </p:nvSpPr>
        <p:spPr>
          <a:xfrm>
            <a:off x="838201" y="5199017"/>
            <a:ext cx="10515599" cy="1658983"/>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solidFill>
                  <a:schemeClr val="tx1"/>
                </a:solidFill>
              </a:rPr>
              <a:t>This is Forgot Password page. Fill your email and then click on Send OTP to receive OTP on your email.</a:t>
            </a:r>
            <a:endParaRPr lang="en-IN" sz="2800" dirty="0">
              <a:solidFill>
                <a:schemeClr val="tx1"/>
              </a:solidFill>
            </a:endParaRPr>
          </a:p>
        </p:txBody>
      </p:sp>
    </p:spTree>
    <p:extLst>
      <p:ext uri="{BB962C8B-B14F-4D97-AF65-F5344CB8AC3E}">
        <p14:creationId xmlns:p14="http://schemas.microsoft.com/office/powerpoint/2010/main" val="2869229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976" y="0"/>
            <a:ext cx="12197953" cy="6858000"/>
          </a:xfrm>
        </p:spPr>
      </p:pic>
      <p:sp>
        <p:nvSpPr>
          <p:cNvPr id="5" name="Rectangle 4"/>
          <p:cNvSpPr/>
          <p:nvPr/>
        </p:nvSpPr>
        <p:spPr>
          <a:xfrm>
            <a:off x="838200" y="5329646"/>
            <a:ext cx="10515600" cy="1528354"/>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solidFill>
                  <a:schemeClr val="tx1"/>
                </a:solidFill>
              </a:rPr>
              <a:t>This is Verify OTP page. Enter the OTP which you have received on your email.</a:t>
            </a:r>
            <a:endParaRPr lang="en-IN" sz="2800" dirty="0">
              <a:solidFill>
                <a:schemeClr val="tx1"/>
              </a:solidFill>
            </a:endParaRPr>
          </a:p>
        </p:txBody>
      </p:sp>
    </p:spTree>
    <p:extLst>
      <p:ext uri="{BB962C8B-B14F-4D97-AF65-F5344CB8AC3E}">
        <p14:creationId xmlns:p14="http://schemas.microsoft.com/office/powerpoint/2010/main" val="14159130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976" y="0"/>
            <a:ext cx="12197953" cy="6858000"/>
          </a:xfrm>
        </p:spPr>
      </p:pic>
      <p:sp>
        <p:nvSpPr>
          <p:cNvPr id="5" name="Rectangle 4"/>
          <p:cNvSpPr/>
          <p:nvPr/>
        </p:nvSpPr>
        <p:spPr>
          <a:xfrm>
            <a:off x="838201" y="5538651"/>
            <a:ext cx="10515599" cy="1319349"/>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solidFill>
                  <a:schemeClr val="tx1"/>
                </a:solidFill>
              </a:rPr>
              <a:t>This is the Reset Password Page. Enter your </a:t>
            </a:r>
            <a:r>
              <a:rPr lang="en-US" sz="2800" dirty="0">
                <a:solidFill>
                  <a:schemeClr val="tx1"/>
                </a:solidFill>
              </a:rPr>
              <a:t>E</a:t>
            </a:r>
            <a:r>
              <a:rPr lang="en-US" sz="2800" dirty="0" smtClean="0">
                <a:solidFill>
                  <a:schemeClr val="tx1"/>
                </a:solidFill>
              </a:rPr>
              <a:t>mail, New Password and Confirm the New Password.</a:t>
            </a:r>
            <a:endParaRPr lang="en-IN" sz="2800" dirty="0">
              <a:solidFill>
                <a:schemeClr val="tx1"/>
              </a:solidFill>
            </a:endParaRPr>
          </a:p>
        </p:txBody>
      </p:sp>
    </p:spTree>
    <p:extLst>
      <p:ext uri="{BB962C8B-B14F-4D97-AF65-F5344CB8AC3E}">
        <p14:creationId xmlns:p14="http://schemas.microsoft.com/office/powerpoint/2010/main" val="29680808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2319338" y="1576388"/>
            <a:ext cx="7553325" cy="37052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200" dirty="0" smtClean="0"/>
              <a:t>User Management</a:t>
            </a:r>
            <a:endParaRPr lang="en-US" sz="7200" dirty="0"/>
          </a:p>
        </p:txBody>
      </p:sp>
    </p:spTree>
    <p:extLst>
      <p:ext uri="{BB962C8B-B14F-4D97-AF65-F5344CB8AC3E}">
        <p14:creationId xmlns:p14="http://schemas.microsoft.com/office/powerpoint/2010/main" val="662715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976" y="0"/>
            <a:ext cx="12197953" cy="6858000"/>
          </a:xfrm>
        </p:spPr>
      </p:pic>
      <p:sp>
        <p:nvSpPr>
          <p:cNvPr id="5" name="Rectangle 4"/>
          <p:cNvSpPr/>
          <p:nvPr/>
        </p:nvSpPr>
        <p:spPr>
          <a:xfrm>
            <a:off x="838200" y="5159829"/>
            <a:ext cx="10515600" cy="1698171"/>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solidFill>
                  <a:schemeClr val="tx1"/>
                </a:solidFill>
              </a:rPr>
              <a:t>This is User Management page. See the Users List along with their details. Click on Add User to Create a New User. Click on Deleted Users to see the list of Deleted Users. Select user and perform action or see different users after adding filters.</a:t>
            </a:r>
            <a:endParaRPr lang="en-IN" sz="2800" dirty="0">
              <a:solidFill>
                <a:schemeClr val="tx1"/>
              </a:solidFill>
            </a:endParaRPr>
          </a:p>
        </p:txBody>
      </p:sp>
    </p:spTree>
    <p:extLst>
      <p:ext uri="{BB962C8B-B14F-4D97-AF65-F5344CB8AC3E}">
        <p14:creationId xmlns:p14="http://schemas.microsoft.com/office/powerpoint/2010/main" val="19237410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pic>
        <p:nvPicPr>
          <p:cNvPr id="5" name="Picture 4"/>
          <p:cNvPicPr>
            <a:picLocks noChangeAspect="1"/>
          </p:cNvPicPr>
          <p:nvPr/>
        </p:nvPicPr>
        <p:blipFill>
          <a:blip r:embed="rId2"/>
          <a:stretch>
            <a:fillRect/>
          </a:stretch>
        </p:blipFill>
        <p:spPr>
          <a:xfrm>
            <a:off x="-2976" y="0"/>
            <a:ext cx="12197953" cy="6858000"/>
          </a:xfrm>
          <a:prstGeom prst="rect">
            <a:avLst/>
          </a:prstGeom>
        </p:spPr>
      </p:pic>
      <p:sp>
        <p:nvSpPr>
          <p:cNvPr id="6" name="Rectangle 5"/>
          <p:cNvSpPr/>
          <p:nvPr/>
        </p:nvSpPr>
        <p:spPr>
          <a:xfrm>
            <a:off x="838200" y="4963886"/>
            <a:ext cx="10515600" cy="1894114"/>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solidFill>
                  <a:schemeClr val="tx1"/>
                </a:solidFill>
              </a:rPr>
              <a:t>This is Create User page. Fill data of the user which you want to add in the system, assign the correct roles and click on Submit.</a:t>
            </a:r>
            <a:endParaRPr lang="en-IN" sz="2800" dirty="0">
              <a:solidFill>
                <a:schemeClr val="tx1"/>
              </a:solidFill>
            </a:endParaRPr>
          </a:p>
        </p:txBody>
      </p:sp>
    </p:spTree>
    <p:extLst>
      <p:ext uri="{BB962C8B-B14F-4D97-AF65-F5344CB8AC3E}">
        <p14:creationId xmlns:p14="http://schemas.microsoft.com/office/powerpoint/2010/main" val="12998814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pic>
        <p:nvPicPr>
          <p:cNvPr id="4" name="Picture 3"/>
          <p:cNvPicPr>
            <a:picLocks noChangeAspect="1"/>
          </p:cNvPicPr>
          <p:nvPr/>
        </p:nvPicPr>
        <p:blipFill>
          <a:blip r:embed="rId2"/>
          <a:stretch>
            <a:fillRect/>
          </a:stretch>
        </p:blipFill>
        <p:spPr>
          <a:xfrm>
            <a:off x="-2976" y="0"/>
            <a:ext cx="12197953" cy="6858000"/>
          </a:xfrm>
          <a:prstGeom prst="rect">
            <a:avLst/>
          </a:prstGeom>
        </p:spPr>
      </p:pic>
      <p:sp>
        <p:nvSpPr>
          <p:cNvPr id="5" name="Rectangle 4"/>
          <p:cNvSpPr/>
          <p:nvPr/>
        </p:nvSpPr>
        <p:spPr>
          <a:xfrm>
            <a:off x="838201" y="5029200"/>
            <a:ext cx="10515599" cy="1828800"/>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solidFill>
                  <a:schemeClr val="tx1"/>
                </a:solidFill>
              </a:rPr>
              <a:t>This is the Deleted Users page. See the list of temporarily deleted users. Click on Restore User to restore the user in the system again. Click on Delete User to delete the user permanently.</a:t>
            </a:r>
            <a:endParaRPr lang="en-IN" sz="2800" dirty="0">
              <a:solidFill>
                <a:schemeClr val="tx1"/>
              </a:solidFill>
            </a:endParaRPr>
          </a:p>
        </p:txBody>
      </p:sp>
    </p:spTree>
    <p:extLst>
      <p:ext uri="{BB962C8B-B14F-4D97-AF65-F5344CB8AC3E}">
        <p14:creationId xmlns:p14="http://schemas.microsoft.com/office/powerpoint/2010/main" val="15761768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pic>
        <p:nvPicPr>
          <p:cNvPr id="4" name="Picture 3"/>
          <p:cNvPicPr>
            <a:picLocks noChangeAspect="1"/>
          </p:cNvPicPr>
          <p:nvPr/>
        </p:nvPicPr>
        <p:blipFill>
          <a:blip r:embed="rId2"/>
          <a:stretch>
            <a:fillRect/>
          </a:stretch>
        </p:blipFill>
        <p:spPr>
          <a:xfrm>
            <a:off x="-5953" y="182880"/>
            <a:ext cx="12197953" cy="6858000"/>
          </a:xfrm>
          <a:prstGeom prst="rect">
            <a:avLst/>
          </a:prstGeom>
        </p:spPr>
      </p:pic>
      <p:sp>
        <p:nvSpPr>
          <p:cNvPr id="5" name="Rectangle 4"/>
          <p:cNvSpPr/>
          <p:nvPr/>
        </p:nvSpPr>
        <p:spPr>
          <a:xfrm>
            <a:off x="838200" y="5159828"/>
            <a:ext cx="10515600" cy="1357653"/>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solidFill>
                  <a:sysClr val="windowText" lastClr="000000"/>
                </a:solidFill>
              </a:rPr>
              <a:t>This is User Profile page. You can edit user details by clicking on Pencil icon in top-right corner.</a:t>
            </a:r>
            <a:endParaRPr lang="en-IN" sz="2800" dirty="0">
              <a:solidFill>
                <a:sysClr val="windowText" lastClr="000000"/>
              </a:solidFill>
            </a:endParaRPr>
          </a:p>
        </p:txBody>
      </p:sp>
    </p:spTree>
    <p:extLst>
      <p:ext uri="{BB962C8B-B14F-4D97-AF65-F5344CB8AC3E}">
        <p14:creationId xmlns:p14="http://schemas.microsoft.com/office/powerpoint/2010/main" val="30088143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pic>
        <p:nvPicPr>
          <p:cNvPr id="4" name="Picture 3"/>
          <p:cNvPicPr>
            <a:picLocks noChangeAspect="1"/>
          </p:cNvPicPr>
          <p:nvPr/>
        </p:nvPicPr>
        <p:blipFill>
          <a:blip r:embed="rId2"/>
          <a:stretch>
            <a:fillRect/>
          </a:stretch>
        </p:blipFill>
        <p:spPr>
          <a:xfrm>
            <a:off x="-2976" y="0"/>
            <a:ext cx="12197953" cy="6858000"/>
          </a:xfrm>
          <a:prstGeom prst="rect">
            <a:avLst/>
          </a:prstGeom>
        </p:spPr>
      </p:pic>
      <p:sp>
        <p:nvSpPr>
          <p:cNvPr id="5" name="Rectangle 4"/>
          <p:cNvSpPr/>
          <p:nvPr/>
        </p:nvSpPr>
        <p:spPr>
          <a:xfrm>
            <a:off x="838200" y="5042262"/>
            <a:ext cx="10515599" cy="1815737"/>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solidFill>
                  <a:schemeClr val="tx1"/>
                </a:solidFill>
              </a:rPr>
              <a:t>This is the Create New Template page. Select the Template type, Notification event and Role and add the message body.</a:t>
            </a:r>
            <a:endParaRPr lang="en-IN" sz="2800" dirty="0">
              <a:solidFill>
                <a:schemeClr val="tx1"/>
              </a:solidFill>
            </a:endParaRPr>
          </a:p>
        </p:txBody>
      </p:sp>
    </p:spTree>
    <p:extLst>
      <p:ext uri="{BB962C8B-B14F-4D97-AF65-F5344CB8AC3E}">
        <p14:creationId xmlns:p14="http://schemas.microsoft.com/office/powerpoint/2010/main" val="25003715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stretch>
            <a:fillRect/>
          </a:stretch>
        </p:blipFill>
        <p:spPr>
          <a:xfrm>
            <a:off x="-2976" y="0"/>
            <a:ext cx="12197953" cy="6858000"/>
          </a:xfrm>
          <a:prstGeom prst="rect">
            <a:avLst/>
          </a:prstGeom>
        </p:spPr>
      </p:pic>
      <p:sp>
        <p:nvSpPr>
          <p:cNvPr id="5" name="Rectangle 4"/>
          <p:cNvSpPr/>
          <p:nvPr/>
        </p:nvSpPr>
        <p:spPr>
          <a:xfrm>
            <a:off x="838201" y="5225143"/>
            <a:ext cx="10515600" cy="1632857"/>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solidFill>
                  <a:schemeClr val="tx1"/>
                </a:solidFill>
              </a:rPr>
              <a:t>This is the Template list page. Select template list pages according to template type to see the list of Notification templates added in the system.</a:t>
            </a:r>
            <a:endParaRPr lang="en-IN" sz="2800" dirty="0">
              <a:solidFill>
                <a:schemeClr val="tx1"/>
              </a:solidFill>
            </a:endParaRPr>
          </a:p>
        </p:txBody>
      </p:sp>
    </p:spTree>
    <p:extLst>
      <p:ext uri="{BB962C8B-B14F-4D97-AF65-F5344CB8AC3E}">
        <p14:creationId xmlns:p14="http://schemas.microsoft.com/office/powerpoint/2010/main" val="28273297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2319338" y="1576388"/>
            <a:ext cx="7553325" cy="37052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200" dirty="0" smtClean="0"/>
              <a:t>Dashboard</a:t>
            </a:r>
            <a:endParaRPr lang="en-US" sz="7200" dirty="0"/>
          </a:p>
        </p:txBody>
      </p:sp>
    </p:spTree>
    <p:extLst>
      <p:ext uri="{BB962C8B-B14F-4D97-AF65-F5344CB8AC3E}">
        <p14:creationId xmlns:p14="http://schemas.microsoft.com/office/powerpoint/2010/main" val="25241560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0" y="0"/>
            <a:ext cx="12192000" cy="6858000"/>
          </a:xfrm>
          <a:prstGeom prst="rect">
            <a:avLst/>
          </a:prstGeom>
        </p:spPr>
      </p:pic>
      <p:sp>
        <p:nvSpPr>
          <p:cNvPr id="5" name="Rectangle 4"/>
          <p:cNvSpPr/>
          <p:nvPr/>
        </p:nvSpPr>
        <p:spPr>
          <a:xfrm>
            <a:off x="1124222" y="4911634"/>
            <a:ext cx="10163175" cy="1946366"/>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solidFill>
                  <a:schemeClr val="tx1"/>
                </a:solidFill>
              </a:rPr>
              <a:t>This is the Dashboard to see the summary of whole application. </a:t>
            </a:r>
            <a:r>
              <a:rPr lang="en-US" sz="2800" dirty="0" smtClean="0">
                <a:solidFill>
                  <a:schemeClr val="tx1"/>
                </a:solidFill>
              </a:rPr>
              <a:t>You can see the data of all centers for admin and executive roles. For </a:t>
            </a:r>
            <a:r>
              <a:rPr lang="en-US" sz="2800" dirty="0" err="1" smtClean="0">
                <a:solidFill>
                  <a:schemeClr val="tx1"/>
                </a:solidFill>
              </a:rPr>
              <a:t>centerwise</a:t>
            </a:r>
            <a:r>
              <a:rPr lang="en-US" sz="2800" dirty="0" smtClean="0">
                <a:solidFill>
                  <a:schemeClr val="tx1"/>
                </a:solidFill>
              </a:rPr>
              <a:t> data, you have to login as a center-</a:t>
            </a:r>
            <a:r>
              <a:rPr lang="en-US" sz="2800" dirty="0" err="1" smtClean="0">
                <a:solidFill>
                  <a:schemeClr val="tx1"/>
                </a:solidFill>
              </a:rPr>
              <a:t>incharge</a:t>
            </a:r>
            <a:r>
              <a:rPr lang="en-US" sz="2800" dirty="0" smtClean="0">
                <a:solidFill>
                  <a:schemeClr val="tx1"/>
                </a:solidFill>
              </a:rPr>
              <a:t>.</a:t>
            </a:r>
            <a:endParaRPr lang="en-US" sz="2800" dirty="0" smtClean="0">
              <a:solidFill>
                <a:schemeClr val="tx1"/>
              </a:solidFill>
            </a:endParaRPr>
          </a:p>
          <a:p>
            <a:pPr algn="ctr"/>
            <a:r>
              <a:rPr lang="en-US" sz="2800" dirty="0" smtClean="0">
                <a:solidFill>
                  <a:schemeClr val="tx1"/>
                </a:solidFill>
              </a:rPr>
              <a:t>You can change the Duration to see different figures. </a:t>
            </a:r>
            <a:endParaRPr lang="en-US" sz="2800" dirty="0">
              <a:solidFill>
                <a:schemeClr val="tx1"/>
              </a:solidFill>
            </a:endParaRPr>
          </a:p>
        </p:txBody>
      </p:sp>
    </p:spTree>
    <p:extLst>
      <p:ext uri="{BB962C8B-B14F-4D97-AF65-F5344CB8AC3E}">
        <p14:creationId xmlns:p14="http://schemas.microsoft.com/office/powerpoint/2010/main" val="35960220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976" y="0"/>
            <a:ext cx="12197953" cy="6858000"/>
          </a:xfrm>
          <a:prstGeom prst="rect">
            <a:avLst/>
          </a:prstGeom>
        </p:spPr>
      </p:pic>
      <p:sp>
        <p:nvSpPr>
          <p:cNvPr id="3" name="Rectangle 2"/>
          <p:cNvSpPr/>
          <p:nvPr/>
        </p:nvSpPr>
        <p:spPr>
          <a:xfrm>
            <a:off x="1124222" y="5394960"/>
            <a:ext cx="10163175" cy="1463040"/>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solidFill>
                  <a:schemeClr val="tx1"/>
                </a:solidFill>
              </a:rPr>
              <a:t>This is Plan vs Utilization Report. The </a:t>
            </a:r>
            <a:r>
              <a:rPr lang="en-US" sz="2800" dirty="0">
                <a:solidFill>
                  <a:schemeClr val="tx1"/>
                </a:solidFill>
              </a:rPr>
              <a:t>Percentage Utilization for the current financial year </a:t>
            </a:r>
            <a:r>
              <a:rPr lang="en-US" sz="2800" dirty="0" smtClean="0">
                <a:solidFill>
                  <a:schemeClr val="tx1"/>
                </a:solidFill>
              </a:rPr>
              <a:t>against an Annual Plan is calculated and shown in the bar chart format. </a:t>
            </a:r>
            <a:endParaRPr lang="en-US" sz="2800" dirty="0">
              <a:solidFill>
                <a:schemeClr val="tx1"/>
              </a:solidFill>
            </a:endParaRPr>
          </a:p>
        </p:txBody>
      </p:sp>
    </p:spTree>
    <p:extLst>
      <p:ext uri="{BB962C8B-B14F-4D97-AF65-F5344CB8AC3E}">
        <p14:creationId xmlns:p14="http://schemas.microsoft.com/office/powerpoint/2010/main" val="31286416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976" y="0"/>
            <a:ext cx="12197953" cy="6858000"/>
          </a:xfrm>
          <a:prstGeom prst="rect">
            <a:avLst/>
          </a:prstGeom>
        </p:spPr>
      </p:pic>
      <p:sp>
        <p:nvSpPr>
          <p:cNvPr id="3" name="Rectangle 2"/>
          <p:cNvSpPr/>
          <p:nvPr/>
        </p:nvSpPr>
        <p:spPr>
          <a:xfrm>
            <a:off x="2377440" y="5172891"/>
            <a:ext cx="7680960" cy="1685109"/>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solidFill>
                  <a:schemeClr val="tx1"/>
                </a:solidFill>
              </a:rPr>
              <a:t>This is Approval vs Utilization Report. The </a:t>
            </a:r>
            <a:r>
              <a:rPr lang="en-US" sz="2800" dirty="0">
                <a:solidFill>
                  <a:schemeClr val="tx1"/>
                </a:solidFill>
              </a:rPr>
              <a:t>Percentage Utilization for the current financial year </a:t>
            </a:r>
            <a:r>
              <a:rPr lang="en-US" sz="2800" dirty="0" smtClean="0">
                <a:solidFill>
                  <a:schemeClr val="tx1"/>
                </a:solidFill>
              </a:rPr>
              <a:t>against an Approval is calculated and shown in the bar chart format. </a:t>
            </a:r>
            <a:endParaRPr lang="en-US" sz="2800" dirty="0">
              <a:solidFill>
                <a:schemeClr val="tx1"/>
              </a:solidFill>
            </a:endParaRPr>
          </a:p>
        </p:txBody>
      </p:sp>
    </p:spTree>
    <p:extLst>
      <p:ext uri="{BB962C8B-B14F-4D97-AF65-F5344CB8AC3E}">
        <p14:creationId xmlns:p14="http://schemas.microsoft.com/office/powerpoint/2010/main" val="32277583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457450" y="1514475"/>
            <a:ext cx="7553325" cy="37052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200" dirty="0" smtClean="0"/>
              <a:t>Master Data</a:t>
            </a:r>
            <a:endParaRPr lang="en-US" sz="7200" dirty="0"/>
          </a:p>
        </p:txBody>
      </p:sp>
    </p:spTree>
    <p:extLst>
      <p:ext uri="{BB962C8B-B14F-4D97-AF65-F5344CB8AC3E}">
        <p14:creationId xmlns:p14="http://schemas.microsoft.com/office/powerpoint/2010/main" val="1569022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0" y="0"/>
            <a:ext cx="12192000" cy="6858000"/>
          </a:xfrm>
          <a:prstGeom prst="rect">
            <a:avLst/>
          </a:prstGeom>
        </p:spPr>
      </p:pic>
      <p:sp>
        <p:nvSpPr>
          <p:cNvPr id="3" name="Rectangle 2"/>
          <p:cNvSpPr/>
          <p:nvPr/>
        </p:nvSpPr>
        <p:spPr>
          <a:xfrm>
            <a:off x="1228725" y="5447211"/>
            <a:ext cx="10163175" cy="1410789"/>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solidFill>
                  <a:schemeClr val="tx1"/>
                </a:solidFill>
              </a:rPr>
              <a:t>This is Center List Master. On Top-right, click +</a:t>
            </a:r>
            <a:r>
              <a:rPr lang="en-US" sz="2800" dirty="0">
                <a:solidFill>
                  <a:schemeClr val="tx1"/>
                </a:solidFill>
              </a:rPr>
              <a:t> </a:t>
            </a:r>
            <a:r>
              <a:rPr lang="en-US" sz="2800" dirty="0" smtClean="0">
                <a:solidFill>
                  <a:schemeClr val="tx1"/>
                </a:solidFill>
              </a:rPr>
              <a:t>icon to open a New Center Details Form. Click on Upload icon to add Geographical data via bulk upload.</a:t>
            </a:r>
            <a:endParaRPr lang="en-US" sz="2800" dirty="0">
              <a:solidFill>
                <a:schemeClr val="tx1"/>
              </a:solidFill>
            </a:endParaRPr>
          </a:p>
        </p:txBody>
      </p:sp>
    </p:spTree>
    <p:extLst>
      <p:ext uri="{BB962C8B-B14F-4D97-AF65-F5344CB8AC3E}">
        <p14:creationId xmlns:p14="http://schemas.microsoft.com/office/powerpoint/2010/main" val="8072500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0" y="0"/>
            <a:ext cx="12192000" cy="6858000"/>
          </a:xfrm>
          <a:prstGeom prst="rect">
            <a:avLst/>
          </a:prstGeom>
        </p:spPr>
      </p:pic>
      <p:sp>
        <p:nvSpPr>
          <p:cNvPr id="3" name="Rectangle 2"/>
          <p:cNvSpPr/>
          <p:nvPr/>
        </p:nvSpPr>
        <p:spPr>
          <a:xfrm>
            <a:off x="1228725" y="5886450"/>
            <a:ext cx="10163175" cy="971550"/>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solidFill>
                  <a:schemeClr val="tx1"/>
                </a:solidFill>
              </a:rPr>
              <a:t>This is New Center Form. Enter all details and Submit. </a:t>
            </a:r>
            <a:endParaRPr lang="en-US" sz="2800" dirty="0">
              <a:solidFill>
                <a:schemeClr val="tx1"/>
              </a:solidFill>
            </a:endParaRPr>
          </a:p>
        </p:txBody>
      </p:sp>
    </p:spTree>
    <p:extLst>
      <p:ext uri="{BB962C8B-B14F-4D97-AF65-F5344CB8AC3E}">
        <p14:creationId xmlns:p14="http://schemas.microsoft.com/office/powerpoint/2010/main" val="132928910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976" y="0"/>
            <a:ext cx="12197953" cy="6858000"/>
          </a:xfrm>
          <a:prstGeom prst="rect">
            <a:avLst/>
          </a:prstGeom>
        </p:spPr>
      </p:pic>
      <p:sp>
        <p:nvSpPr>
          <p:cNvPr id="3" name="Rectangle 2"/>
          <p:cNvSpPr/>
          <p:nvPr/>
        </p:nvSpPr>
        <p:spPr>
          <a:xfrm>
            <a:off x="1045029" y="5603966"/>
            <a:ext cx="10280468" cy="1254034"/>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solidFill>
                  <a:sysClr val="windowText" lastClr="000000"/>
                </a:solidFill>
              </a:rPr>
              <a:t>This is Add Center </a:t>
            </a:r>
            <a:r>
              <a:rPr lang="en-US" sz="2800" dirty="0" err="1" smtClean="0">
                <a:solidFill>
                  <a:sysClr val="windowText" lastClr="000000"/>
                </a:solidFill>
              </a:rPr>
              <a:t>Incharge</a:t>
            </a:r>
            <a:r>
              <a:rPr lang="en-US" sz="2800" dirty="0" smtClean="0">
                <a:solidFill>
                  <a:sysClr val="windowText" lastClr="000000"/>
                </a:solidFill>
              </a:rPr>
              <a:t> page. Assign Center </a:t>
            </a:r>
            <a:r>
              <a:rPr lang="en-US" sz="2800" dirty="0" err="1" smtClean="0">
                <a:solidFill>
                  <a:sysClr val="windowText" lastClr="000000"/>
                </a:solidFill>
              </a:rPr>
              <a:t>Incharge</a:t>
            </a:r>
            <a:r>
              <a:rPr lang="en-US" sz="2800" dirty="0" smtClean="0">
                <a:solidFill>
                  <a:sysClr val="windowText" lastClr="000000"/>
                </a:solidFill>
              </a:rPr>
              <a:t>, Senior Manager and Account Person for a specific center.</a:t>
            </a:r>
            <a:endParaRPr lang="en-IN" sz="2800" dirty="0">
              <a:solidFill>
                <a:sysClr val="windowText" lastClr="000000"/>
              </a:solidFill>
            </a:endParaRPr>
          </a:p>
        </p:txBody>
      </p:sp>
    </p:spTree>
    <p:extLst>
      <p:ext uri="{BB962C8B-B14F-4D97-AF65-F5344CB8AC3E}">
        <p14:creationId xmlns:p14="http://schemas.microsoft.com/office/powerpoint/2010/main" val="278998248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976" y="0"/>
            <a:ext cx="12197953" cy="6858000"/>
          </a:xfrm>
          <a:prstGeom prst="rect">
            <a:avLst/>
          </a:prstGeom>
        </p:spPr>
      </p:pic>
      <p:sp>
        <p:nvSpPr>
          <p:cNvPr id="3" name="Rectangle 2"/>
          <p:cNvSpPr/>
          <p:nvPr/>
        </p:nvSpPr>
        <p:spPr>
          <a:xfrm>
            <a:off x="1045029" y="5799909"/>
            <a:ext cx="10293531" cy="1058091"/>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solidFill>
                  <a:sysClr val="windowText" lastClr="000000"/>
                </a:solidFill>
              </a:rPr>
              <a:t>This is Center Details page. All information about the center such as geographical data will be shown here.</a:t>
            </a:r>
            <a:endParaRPr lang="en-IN" sz="2800" dirty="0">
              <a:solidFill>
                <a:sysClr val="windowText" lastClr="000000"/>
              </a:solidFill>
            </a:endParaRPr>
          </a:p>
        </p:txBody>
      </p:sp>
    </p:spTree>
    <p:extLst>
      <p:ext uri="{BB962C8B-B14F-4D97-AF65-F5344CB8AC3E}">
        <p14:creationId xmlns:p14="http://schemas.microsoft.com/office/powerpoint/2010/main" val="243855716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976" y="0"/>
            <a:ext cx="12197953" cy="6858000"/>
          </a:xfrm>
          <a:prstGeom prst="rect">
            <a:avLst/>
          </a:prstGeom>
        </p:spPr>
      </p:pic>
      <p:sp>
        <p:nvSpPr>
          <p:cNvPr id="3" name="Rectangle 2"/>
          <p:cNvSpPr/>
          <p:nvPr/>
        </p:nvSpPr>
        <p:spPr>
          <a:xfrm>
            <a:off x="1031966" y="6152606"/>
            <a:ext cx="10319657" cy="705394"/>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solidFill>
                  <a:schemeClr val="tx1"/>
                </a:solidFill>
              </a:rPr>
              <a:t>This is Center Profile page accessible for Center </a:t>
            </a:r>
            <a:r>
              <a:rPr lang="en-US" sz="2800" dirty="0" err="1" smtClean="0">
                <a:solidFill>
                  <a:schemeClr val="tx1"/>
                </a:solidFill>
              </a:rPr>
              <a:t>Incharge</a:t>
            </a:r>
            <a:r>
              <a:rPr lang="en-US" sz="2800" dirty="0" smtClean="0">
                <a:solidFill>
                  <a:schemeClr val="tx1"/>
                </a:solidFill>
              </a:rPr>
              <a:t> only.</a:t>
            </a:r>
            <a:endParaRPr lang="en-IN" sz="2800" dirty="0">
              <a:solidFill>
                <a:schemeClr val="tx1"/>
              </a:solidFill>
            </a:endParaRPr>
          </a:p>
        </p:txBody>
      </p:sp>
    </p:spTree>
    <p:extLst>
      <p:ext uri="{BB962C8B-B14F-4D97-AF65-F5344CB8AC3E}">
        <p14:creationId xmlns:p14="http://schemas.microsoft.com/office/powerpoint/2010/main" val="266984352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0" y="0"/>
            <a:ext cx="12192000" cy="6858000"/>
          </a:xfrm>
          <a:prstGeom prst="rect">
            <a:avLst/>
          </a:prstGeom>
        </p:spPr>
      </p:pic>
      <p:sp>
        <p:nvSpPr>
          <p:cNvPr id="4" name="Rectangle 3"/>
          <p:cNvSpPr/>
          <p:nvPr/>
        </p:nvSpPr>
        <p:spPr>
          <a:xfrm>
            <a:off x="1228725" y="5886450"/>
            <a:ext cx="10163175" cy="971550"/>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solidFill>
                  <a:schemeClr val="tx1"/>
                </a:solidFill>
              </a:rPr>
              <a:t>This is Bulk Upload facility for Geographical Locations. Download the Template and fill up your data. Then upload again.</a:t>
            </a:r>
            <a:endParaRPr lang="en-US" sz="2800" dirty="0">
              <a:solidFill>
                <a:schemeClr val="tx1"/>
              </a:solidFill>
            </a:endParaRPr>
          </a:p>
        </p:txBody>
      </p:sp>
    </p:spTree>
    <p:extLst>
      <p:ext uri="{BB962C8B-B14F-4D97-AF65-F5344CB8AC3E}">
        <p14:creationId xmlns:p14="http://schemas.microsoft.com/office/powerpoint/2010/main" val="53990020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976" y="0"/>
            <a:ext cx="12197953" cy="6858000"/>
          </a:xfrm>
          <a:prstGeom prst="rect">
            <a:avLst/>
          </a:prstGeom>
        </p:spPr>
      </p:pic>
      <p:sp>
        <p:nvSpPr>
          <p:cNvPr id="3" name="Rectangle 2"/>
          <p:cNvSpPr/>
          <p:nvPr/>
        </p:nvSpPr>
        <p:spPr>
          <a:xfrm>
            <a:off x="979714" y="5368834"/>
            <a:ext cx="10241279" cy="1489166"/>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solidFill>
                  <a:schemeClr val="tx1"/>
                </a:solidFill>
              </a:rPr>
              <a:t>This is Bank Details List page. Click on Add Bank Details in the top right corner to add new Bank Details.</a:t>
            </a:r>
            <a:endParaRPr lang="en-IN" sz="2800" dirty="0">
              <a:solidFill>
                <a:schemeClr val="tx1"/>
              </a:solidFill>
            </a:endParaRPr>
          </a:p>
        </p:txBody>
      </p:sp>
    </p:spTree>
    <p:extLst>
      <p:ext uri="{BB962C8B-B14F-4D97-AF65-F5344CB8AC3E}">
        <p14:creationId xmlns:p14="http://schemas.microsoft.com/office/powerpoint/2010/main" val="378533534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stretch>
            <a:fillRect/>
          </a:stretch>
        </p:blipFill>
        <p:spPr>
          <a:xfrm>
            <a:off x="-2976" y="0"/>
            <a:ext cx="12197953" cy="6858000"/>
          </a:xfrm>
          <a:prstGeom prst="rect">
            <a:avLst/>
          </a:prstGeom>
        </p:spPr>
      </p:pic>
      <p:sp>
        <p:nvSpPr>
          <p:cNvPr id="5" name="Rectangle 4"/>
          <p:cNvSpPr/>
          <p:nvPr/>
        </p:nvSpPr>
        <p:spPr>
          <a:xfrm>
            <a:off x="838201" y="5969725"/>
            <a:ext cx="10515600" cy="888273"/>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solidFill>
                  <a:schemeClr val="tx1"/>
                </a:solidFill>
              </a:rPr>
              <a:t>This is Bank Details Page. Fill up Bank Details and click on Submit</a:t>
            </a:r>
            <a:r>
              <a:rPr lang="en-IN" sz="2800" dirty="0" smtClean="0">
                <a:solidFill>
                  <a:schemeClr val="tx1"/>
                </a:solidFill>
              </a:rPr>
              <a:t>.</a:t>
            </a:r>
            <a:endParaRPr lang="en-US" sz="2800" dirty="0" smtClean="0">
              <a:solidFill>
                <a:schemeClr val="tx1"/>
              </a:solidFill>
            </a:endParaRPr>
          </a:p>
        </p:txBody>
      </p:sp>
    </p:spTree>
    <p:extLst>
      <p:ext uri="{BB962C8B-B14F-4D97-AF65-F5344CB8AC3E}">
        <p14:creationId xmlns:p14="http://schemas.microsoft.com/office/powerpoint/2010/main" val="151860615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pic>
        <p:nvPicPr>
          <p:cNvPr id="4" name="Picture 3"/>
          <p:cNvPicPr>
            <a:picLocks noChangeAspect="1"/>
          </p:cNvPicPr>
          <p:nvPr/>
        </p:nvPicPr>
        <p:blipFill>
          <a:blip r:embed="rId2"/>
          <a:stretch>
            <a:fillRect/>
          </a:stretch>
        </p:blipFill>
        <p:spPr>
          <a:xfrm>
            <a:off x="0" y="0"/>
            <a:ext cx="12197953" cy="6858000"/>
          </a:xfrm>
          <a:prstGeom prst="rect">
            <a:avLst/>
          </a:prstGeom>
        </p:spPr>
      </p:pic>
      <p:sp>
        <p:nvSpPr>
          <p:cNvPr id="5" name="Rectangle 4"/>
          <p:cNvSpPr/>
          <p:nvPr/>
        </p:nvSpPr>
        <p:spPr>
          <a:xfrm>
            <a:off x="838200" y="5852160"/>
            <a:ext cx="10515600" cy="1005840"/>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solidFill>
                  <a:schemeClr val="tx1"/>
                </a:solidFill>
              </a:rPr>
              <a:t>This is Unit of Measurement page. Add Units or See the List of Units below.</a:t>
            </a:r>
            <a:endParaRPr lang="en-IN" sz="2800" dirty="0">
              <a:solidFill>
                <a:schemeClr val="tx1"/>
              </a:solidFill>
            </a:endParaRPr>
          </a:p>
        </p:txBody>
      </p:sp>
    </p:spTree>
    <p:extLst>
      <p:ext uri="{BB962C8B-B14F-4D97-AF65-F5344CB8AC3E}">
        <p14:creationId xmlns:p14="http://schemas.microsoft.com/office/powerpoint/2010/main" val="347734257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pic>
        <p:nvPicPr>
          <p:cNvPr id="4" name="Picture 3"/>
          <p:cNvPicPr>
            <a:picLocks noChangeAspect="1"/>
          </p:cNvPicPr>
          <p:nvPr/>
        </p:nvPicPr>
        <p:blipFill>
          <a:blip r:embed="rId2"/>
          <a:stretch>
            <a:fillRect/>
          </a:stretch>
        </p:blipFill>
        <p:spPr>
          <a:xfrm>
            <a:off x="-2976" y="0"/>
            <a:ext cx="12197953" cy="6858000"/>
          </a:xfrm>
          <a:prstGeom prst="rect">
            <a:avLst/>
          </a:prstGeom>
        </p:spPr>
      </p:pic>
      <p:sp>
        <p:nvSpPr>
          <p:cNvPr id="5" name="Rectangle 4"/>
          <p:cNvSpPr/>
          <p:nvPr/>
        </p:nvSpPr>
        <p:spPr>
          <a:xfrm>
            <a:off x="838200" y="5055327"/>
            <a:ext cx="10515600" cy="1802674"/>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solidFill>
                  <a:schemeClr val="tx1"/>
                </a:solidFill>
              </a:rPr>
              <a:t>This is Program-Project-Activity-</a:t>
            </a:r>
            <a:r>
              <a:rPr lang="en-US" sz="2800" dirty="0" err="1" smtClean="0">
                <a:solidFill>
                  <a:schemeClr val="tx1"/>
                </a:solidFill>
              </a:rPr>
              <a:t>Subactivity</a:t>
            </a:r>
            <a:r>
              <a:rPr lang="en-US" sz="2800" dirty="0" smtClean="0">
                <a:solidFill>
                  <a:schemeClr val="tx1"/>
                </a:solidFill>
              </a:rPr>
              <a:t> List page. Link the 4 fields to each other and see the list below. Click on + icon to open the respective field page. Click on upload icon in the top-right to upload the data.</a:t>
            </a:r>
            <a:endParaRPr lang="en-IN" sz="2800" dirty="0">
              <a:solidFill>
                <a:schemeClr val="tx1"/>
              </a:solidFill>
            </a:endParaRPr>
          </a:p>
        </p:txBody>
      </p:sp>
    </p:spTree>
    <p:extLst>
      <p:ext uri="{BB962C8B-B14F-4D97-AF65-F5344CB8AC3E}">
        <p14:creationId xmlns:p14="http://schemas.microsoft.com/office/powerpoint/2010/main" val="323589497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stretch>
            <a:fillRect/>
          </a:stretch>
        </p:blipFill>
        <p:spPr>
          <a:xfrm>
            <a:off x="-2976" y="0"/>
            <a:ext cx="12197953" cy="6858000"/>
          </a:xfrm>
          <a:prstGeom prst="rect">
            <a:avLst/>
          </a:prstGeom>
        </p:spPr>
      </p:pic>
      <p:sp>
        <p:nvSpPr>
          <p:cNvPr id="5" name="Rectangle 4"/>
          <p:cNvSpPr/>
          <p:nvPr/>
        </p:nvSpPr>
        <p:spPr>
          <a:xfrm>
            <a:off x="838201" y="5316583"/>
            <a:ext cx="10515599" cy="1541417"/>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solidFill>
                  <a:schemeClr val="tx1"/>
                </a:solidFill>
              </a:rPr>
              <a:t>This is the Add Programs page. Add Programs and see their list below. Click on Bulk upload in the top right to add the Programs in bulk.</a:t>
            </a:r>
            <a:endParaRPr lang="en-IN" sz="2800" dirty="0">
              <a:solidFill>
                <a:schemeClr val="tx1"/>
              </a:solidFill>
            </a:endParaRPr>
          </a:p>
        </p:txBody>
      </p:sp>
    </p:spTree>
    <p:extLst>
      <p:ext uri="{BB962C8B-B14F-4D97-AF65-F5344CB8AC3E}">
        <p14:creationId xmlns:p14="http://schemas.microsoft.com/office/powerpoint/2010/main" val="333099086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stretch>
            <a:fillRect/>
          </a:stretch>
        </p:blipFill>
        <p:spPr>
          <a:xfrm>
            <a:off x="-2976" y="0"/>
            <a:ext cx="12197953" cy="6858000"/>
          </a:xfrm>
          <a:prstGeom prst="rect">
            <a:avLst/>
          </a:prstGeom>
        </p:spPr>
      </p:pic>
      <p:sp>
        <p:nvSpPr>
          <p:cNvPr id="5" name="Rectangle 4"/>
          <p:cNvSpPr/>
          <p:nvPr/>
        </p:nvSpPr>
        <p:spPr>
          <a:xfrm>
            <a:off x="838200" y="5786846"/>
            <a:ext cx="10515600" cy="1071154"/>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solidFill>
                  <a:schemeClr val="tx1"/>
                </a:solidFill>
              </a:rPr>
              <a:t>This is the Program Bulk upload page. Click on Excel icon to download the template and upload your data.</a:t>
            </a:r>
            <a:endParaRPr lang="en-IN" sz="2800" dirty="0">
              <a:solidFill>
                <a:schemeClr val="tx1"/>
              </a:solidFill>
            </a:endParaRPr>
          </a:p>
        </p:txBody>
      </p:sp>
    </p:spTree>
    <p:extLst>
      <p:ext uri="{BB962C8B-B14F-4D97-AF65-F5344CB8AC3E}">
        <p14:creationId xmlns:p14="http://schemas.microsoft.com/office/powerpoint/2010/main" val="389713534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8" name="Content Placeholder 7"/>
          <p:cNvPicPr>
            <a:picLocks noGrp="1" noChangeAspect="1"/>
          </p:cNvPicPr>
          <p:nvPr>
            <p:ph idx="1"/>
          </p:nvPr>
        </p:nvPicPr>
        <p:blipFill>
          <a:blip r:embed="rId2"/>
          <a:stretch>
            <a:fillRect/>
          </a:stretch>
        </p:blipFill>
        <p:spPr>
          <a:xfrm>
            <a:off x="-2975" y="0"/>
            <a:ext cx="12197950" cy="6858000"/>
          </a:xfrm>
          <a:prstGeom prst="rect">
            <a:avLst/>
          </a:prstGeom>
        </p:spPr>
      </p:pic>
      <p:sp>
        <p:nvSpPr>
          <p:cNvPr id="9" name="Rectangle 8"/>
          <p:cNvSpPr/>
          <p:nvPr/>
        </p:nvSpPr>
        <p:spPr>
          <a:xfrm>
            <a:off x="838201" y="5760720"/>
            <a:ext cx="10515599" cy="1097280"/>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solidFill>
                  <a:schemeClr val="tx1"/>
                </a:solidFill>
              </a:rPr>
              <a:t>This is the Add Projects page. Add Projects and see their list below. Click on Bulk upload in the top right to upload the projects in bulk.</a:t>
            </a:r>
            <a:endParaRPr lang="en-IN" sz="2800" dirty="0">
              <a:solidFill>
                <a:schemeClr val="tx1"/>
              </a:solidFill>
            </a:endParaRPr>
          </a:p>
        </p:txBody>
      </p:sp>
    </p:spTree>
    <p:extLst>
      <p:ext uri="{BB962C8B-B14F-4D97-AF65-F5344CB8AC3E}">
        <p14:creationId xmlns:p14="http://schemas.microsoft.com/office/powerpoint/2010/main" val="212033191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stretch>
            <a:fillRect/>
          </a:stretch>
        </p:blipFill>
        <p:spPr>
          <a:xfrm>
            <a:off x="-2976" y="0"/>
            <a:ext cx="12197953" cy="6858000"/>
          </a:xfrm>
          <a:prstGeom prst="rect">
            <a:avLst/>
          </a:prstGeom>
        </p:spPr>
      </p:pic>
      <p:sp>
        <p:nvSpPr>
          <p:cNvPr id="5" name="Rectangle 4"/>
          <p:cNvSpPr/>
          <p:nvPr/>
        </p:nvSpPr>
        <p:spPr>
          <a:xfrm>
            <a:off x="838200" y="5564776"/>
            <a:ext cx="10515599" cy="1293223"/>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solidFill>
                  <a:schemeClr val="tx1"/>
                </a:solidFill>
              </a:rPr>
              <a:t>	This is the Projects Bulk Upload page. Download the template after clicking on Excel icon and add your data.</a:t>
            </a:r>
            <a:endParaRPr lang="en-IN" sz="2800" dirty="0">
              <a:solidFill>
                <a:schemeClr val="tx1"/>
              </a:solidFill>
            </a:endParaRPr>
          </a:p>
        </p:txBody>
      </p:sp>
    </p:spTree>
    <p:extLst>
      <p:ext uri="{BB962C8B-B14F-4D97-AF65-F5344CB8AC3E}">
        <p14:creationId xmlns:p14="http://schemas.microsoft.com/office/powerpoint/2010/main" val="403136848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stretch>
            <a:fillRect/>
          </a:stretch>
        </p:blipFill>
        <p:spPr>
          <a:xfrm>
            <a:off x="-2976" y="0"/>
            <a:ext cx="12197953" cy="6858000"/>
          </a:xfrm>
          <a:prstGeom prst="rect">
            <a:avLst/>
          </a:prstGeom>
        </p:spPr>
      </p:pic>
      <p:sp>
        <p:nvSpPr>
          <p:cNvPr id="5" name="Rectangle 4"/>
          <p:cNvSpPr/>
          <p:nvPr/>
        </p:nvSpPr>
        <p:spPr>
          <a:xfrm>
            <a:off x="838201" y="5708468"/>
            <a:ext cx="10515600" cy="1149531"/>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solidFill>
                  <a:schemeClr val="tx1"/>
                </a:solidFill>
              </a:rPr>
              <a:t>This is Add Activity page. Add Activities and see their list below. Click on Bulk Upload to upload the Activities in bulk.</a:t>
            </a:r>
          </a:p>
        </p:txBody>
      </p:sp>
    </p:spTree>
    <p:extLst>
      <p:ext uri="{BB962C8B-B14F-4D97-AF65-F5344CB8AC3E}">
        <p14:creationId xmlns:p14="http://schemas.microsoft.com/office/powerpoint/2010/main" val="324798808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stretch>
            <a:fillRect/>
          </a:stretch>
        </p:blipFill>
        <p:spPr>
          <a:xfrm>
            <a:off x="-2976" y="0"/>
            <a:ext cx="12197953" cy="6858000"/>
          </a:xfrm>
          <a:prstGeom prst="rect">
            <a:avLst/>
          </a:prstGeom>
        </p:spPr>
      </p:pic>
      <p:sp>
        <p:nvSpPr>
          <p:cNvPr id="5" name="Rectangle 4"/>
          <p:cNvSpPr/>
          <p:nvPr/>
        </p:nvSpPr>
        <p:spPr>
          <a:xfrm>
            <a:off x="838201" y="5617029"/>
            <a:ext cx="10515600" cy="1240971"/>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solidFill>
                  <a:schemeClr val="tx1"/>
                </a:solidFill>
              </a:rPr>
              <a:t>This is Activity Bulk Upload page. Download the template after clicking on excel icon and add your data</a:t>
            </a:r>
            <a:endParaRPr lang="en-IN" sz="2800" dirty="0">
              <a:solidFill>
                <a:schemeClr val="tx1"/>
              </a:solidFill>
            </a:endParaRPr>
          </a:p>
        </p:txBody>
      </p:sp>
    </p:spTree>
    <p:extLst>
      <p:ext uri="{BB962C8B-B14F-4D97-AF65-F5344CB8AC3E}">
        <p14:creationId xmlns:p14="http://schemas.microsoft.com/office/powerpoint/2010/main" val="276601760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pic>
        <p:nvPicPr>
          <p:cNvPr id="4" name="Picture 3"/>
          <p:cNvPicPr>
            <a:picLocks noChangeAspect="1"/>
          </p:cNvPicPr>
          <p:nvPr/>
        </p:nvPicPr>
        <p:blipFill>
          <a:blip r:embed="rId2"/>
          <a:stretch>
            <a:fillRect/>
          </a:stretch>
        </p:blipFill>
        <p:spPr>
          <a:xfrm>
            <a:off x="-2976" y="0"/>
            <a:ext cx="12197953" cy="6858000"/>
          </a:xfrm>
          <a:prstGeom prst="rect">
            <a:avLst/>
          </a:prstGeom>
        </p:spPr>
      </p:pic>
      <p:sp>
        <p:nvSpPr>
          <p:cNvPr id="5" name="Rectangle 4"/>
          <p:cNvSpPr/>
          <p:nvPr/>
        </p:nvSpPr>
        <p:spPr>
          <a:xfrm>
            <a:off x="838200" y="5447210"/>
            <a:ext cx="10515600" cy="1410789"/>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solidFill>
                  <a:schemeClr val="tx1"/>
                </a:solidFill>
              </a:rPr>
              <a:t>This is Activity Approval Level List page. Click on + icon in the top right to add activity approval levels as per their roles.</a:t>
            </a:r>
            <a:endParaRPr lang="en-IN" sz="2800" dirty="0">
              <a:solidFill>
                <a:schemeClr val="tx1"/>
              </a:solidFill>
            </a:endParaRPr>
          </a:p>
        </p:txBody>
      </p:sp>
    </p:spTree>
    <p:extLst>
      <p:ext uri="{BB962C8B-B14F-4D97-AF65-F5344CB8AC3E}">
        <p14:creationId xmlns:p14="http://schemas.microsoft.com/office/powerpoint/2010/main" val="90744615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pic>
        <p:nvPicPr>
          <p:cNvPr id="4" name="Picture 3"/>
          <p:cNvPicPr>
            <a:picLocks noChangeAspect="1"/>
          </p:cNvPicPr>
          <p:nvPr/>
        </p:nvPicPr>
        <p:blipFill>
          <a:blip r:embed="rId2"/>
          <a:stretch>
            <a:fillRect/>
          </a:stretch>
        </p:blipFill>
        <p:spPr>
          <a:xfrm>
            <a:off x="-2976" y="0"/>
            <a:ext cx="12197953" cy="6858000"/>
          </a:xfrm>
          <a:prstGeom prst="rect">
            <a:avLst/>
          </a:prstGeom>
        </p:spPr>
      </p:pic>
      <p:sp>
        <p:nvSpPr>
          <p:cNvPr id="5" name="Rectangle 4"/>
          <p:cNvSpPr/>
          <p:nvPr/>
        </p:nvSpPr>
        <p:spPr>
          <a:xfrm>
            <a:off x="838200" y="5329646"/>
            <a:ext cx="10515600" cy="1528354"/>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solidFill>
                  <a:schemeClr val="tx1"/>
                </a:solidFill>
              </a:rPr>
              <a:t>This is the Activity Approval Level page. Fill up the data and click Submit. See the list of activity approval levels by clicking on top right list icon.</a:t>
            </a:r>
            <a:endParaRPr lang="en-IN" sz="2800" dirty="0">
              <a:solidFill>
                <a:schemeClr val="tx1"/>
              </a:solidFill>
            </a:endParaRPr>
          </a:p>
        </p:txBody>
      </p:sp>
    </p:spTree>
    <p:extLst>
      <p:ext uri="{BB962C8B-B14F-4D97-AF65-F5344CB8AC3E}">
        <p14:creationId xmlns:p14="http://schemas.microsoft.com/office/powerpoint/2010/main" val="233882843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stretch>
            <a:fillRect/>
          </a:stretch>
        </p:blipFill>
        <p:spPr>
          <a:xfrm>
            <a:off x="-2976" y="0"/>
            <a:ext cx="12197953" cy="6858000"/>
          </a:xfrm>
          <a:prstGeom prst="rect">
            <a:avLst/>
          </a:prstGeom>
        </p:spPr>
      </p:pic>
      <p:sp>
        <p:nvSpPr>
          <p:cNvPr id="5" name="Rectangle 4"/>
          <p:cNvSpPr/>
          <p:nvPr/>
        </p:nvSpPr>
        <p:spPr>
          <a:xfrm>
            <a:off x="838200" y="5603966"/>
            <a:ext cx="10515601" cy="1254034"/>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solidFill>
                  <a:schemeClr val="tx1"/>
                </a:solidFill>
              </a:rPr>
              <a:t>This is Utilization Approval Level List Page. Click on + icon to add Utilization Approval Levels as per their roles. </a:t>
            </a:r>
            <a:endParaRPr lang="en-IN" sz="2800" dirty="0">
              <a:solidFill>
                <a:schemeClr val="tx1"/>
              </a:solidFill>
            </a:endParaRPr>
          </a:p>
        </p:txBody>
      </p:sp>
    </p:spTree>
    <p:extLst>
      <p:ext uri="{BB962C8B-B14F-4D97-AF65-F5344CB8AC3E}">
        <p14:creationId xmlns:p14="http://schemas.microsoft.com/office/powerpoint/2010/main" val="35200861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pic>
        <p:nvPicPr>
          <p:cNvPr id="4" name="Picture 3"/>
          <p:cNvPicPr>
            <a:picLocks noChangeAspect="1"/>
          </p:cNvPicPr>
          <p:nvPr/>
        </p:nvPicPr>
        <p:blipFill>
          <a:blip r:embed="rId2"/>
          <a:stretch>
            <a:fillRect/>
          </a:stretch>
        </p:blipFill>
        <p:spPr>
          <a:xfrm>
            <a:off x="-2976" y="0"/>
            <a:ext cx="12197953" cy="6858000"/>
          </a:xfrm>
          <a:prstGeom prst="rect">
            <a:avLst/>
          </a:prstGeom>
        </p:spPr>
      </p:pic>
      <p:sp>
        <p:nvSpPr>
          <p:cNvPr id="5" name="Rectangle 4"/>
          <p:cNvSpPr/>
          <p:nvPr/>
        </p:nvSpPr>
        <p:spPr>
          <a:xfrm>
            <a:off x="838201" y="5682342"/>
            <a:ext cx="10515600" cy="1175657"/>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solidFill>
                  <a:schemeClr val="tx1"/>
                </a:solidFill>
              </a:rPr>
              <a:t>This is Utilization Approval Level list page. Add your data and click on Submit. Click on top right list icon to navigate to list.</a:t>
            </a:r>
            <a:endParaRPr lang="en-IN" sz="2800" dirty="0">
              <a:solidFill>
                <a:schemeClr val="tx1"/>
              </a:solidFill>
            </a:endParaRPr>
          </a:p>
        </p:txBody>
      </p:sp>
    </p:spTree>
    <p:extLst>
      <p:ext uri="{BB962C8B-B14F-4D97-AF65-F5344CB8AC3E}">
        <p14:creationId xmlns:p14="http://schemas.microsoft.com/office/powerpoint/2010/main" val="388444158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2457450" y="1514475"/>
            <a:ext cx="7553325" cy="37052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200" dirty="0" smtClean="0"/>
              <a:t>Annual Plan Management</a:t>
            </a:r>
            <a:endParaRPr lang="en-US" sz="7200" dirty="0"/>
          </a:p>
        </p:txBody>
      </p:sp>
    </p:spTree>
    <p:extLst>
      <p:ext uri="{BB962C8B-B14F-4D97-AF65-F5344CB8AC3E}">
        <p14:creationId xmlns:p14="http://schemas.microsoft.com/office/powerpoint/2010/main" val="90131828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pic>
        <p:nvPicPr>
          <p:cNvPr id="4" name="Picture 3"/>
          <p:cNvPicPr>
            <a:picLocks noChangeAspect="1"/>
          </p:cNvPicPr>
          <p:nvPr/>
        </p:nvPicPr>
        <p:blipFill>
          <a:blip r:embed="rId2"/>
          <a:stretch>
            <a:fillRect/>
          </a:stretch>
        </p:blipFill>
        <p:spPr>
          <a:xfrm>
            <a:off x="-2976" y="0"/>
            <a:ext cx="12197953" cy="6858000"/>
          </a:xfrm>
          <a:prstGeom prst="rect">
            <a:avLst/>
          </a:prstGeom>
        </p:spPr>
      </p:pic>
      <p:sp>
        <p:nvSpPr>
          <p:cNvPr id="5" name="Rectangle 4"/>
          <p:cNvSpPr/>
          <p:nvPr/>
        </p:nvSpPr>
        <p:spPr>
          <a:xfrm>
            <a:off x="838200" y="5316584"/>
            <a:ext cx="10515600" cy="1906542"/>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solidFill>
                  <a:schemeClr val="tx1"/>
                </a:solidFill>
              </a:rPr>
              <a:t>This is Annual Plan List Page. Click on + icon in the top-right corner to add a new Annual Plan. Click on upload button adjacent to it for adding Annual Plans in bulk. Click on download icon near Search input to download the data.</a:t>
            </a:r>
            <a:endParaRPr lang="en-IN" sz="2800" dirty="0">
              <a:solidFill>
                <a:schemeClr val="tx1"/>
              </a:solidFill>
            </a:endParaRPr>
          </a:p>
        </p:txBody>
      </p:sp>
    </p:spTree>
    <p:extLst>
      <p:ext uri="{BB962C8B-B14F-4D97-AF65-F5344CB8AC3E}">
        <p14:creationId xmlns:p14="http://schemas.microsoft.com/office/powerpoint/2010/main" val="331411740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stretch>
            <a:fillRect/>
          </a:stretch>
        </p:blipFill>
        <p:spPr>
          <a:xfrm>
            <a:off x="-2976" y="0"/>
            <a:ext cx="12197953" cy="6858000"/>
          </a:xfrm>
          <a:prstGeom prst="rect">
            <a:avLst/>
          </a:prstGeom>
          <a:solidFill>
            <a:srgbClr val="FFFF00"/>
          </a:solidFill>
        </p:spPr>
      </p:pic>
      <p:sp>
        <p:nvSpPr>
          <p:cNvPr id="5" name="Rectangle 4"/>
          <p:cNvSpPr/>
          <p:nvPr/>
        </p:nvSpPr>
        <p:spPr>
          <a:xfrm>
            <a:off x="838201" y="5695406"/>
            <a:ext cx="10515600" cy="1162594"/>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solidFill>
                  <a:schemeClr val="tx1"/>
                </a:solidFill>
              </a:rPr>
              <a:t>This is Annual Plan form page. Click on list icon at top-right corner to navigate to Annual Plan list.</a:t>
            </a:r>
            <a:endParaRPr lang="en-IN" sz="2800" dirty="0">
              <a:solidFill>
                <a:schemeClr val="tx1"/>
              </a:solidFill>
            </a:endParaRPr>
          </a:p>
        </p:txBody>
      </p:sp>
    </p:spTree>
    <p:extLst>
      <p:ext uri="{BB962C8B-B14F-4D97-AF65-F5344CB8AC3E}">
        <p14:creationId xmlns:p14="http://schemas.microsoft.com/office/powerpoint/2010/main" val="130506234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pic>
        <p:nvPicPr>
          <p:cNvPr id="4" name="Picture 3"/>
          <p:cNvPicPr>
            <a:picLocks noChangeAspect="1"/>
          </p:cNvPicPr>
          <p:nvPr/>
        </p:nvPicPr>
        <p:blipFill>
          <a:blip r:embed="rId2"/>
          <a:stretch>
            <a:fillRect/>
          </a:stretch>
        </p:blipFill>
        <p:spPr>
          <a:xfrm>
            <a:off x="-2976" y="0"/>
            <a:ext cx="12197953" cy="6858000"/>
          </a:xfrm>
          <a:prstGeom prst="rect">
            <a:avLst/>
          </a:prstGeom>
          <a:solidFill>
            <a:srgbClr val="FFFF00"/>
          </a:solidFill>
        </p:spPr>
      </p:pic>
      <p:sp>
        <p:nvSpPr>
          <p:cNvPr id="5" name="Rectangle 4"/>
          <p:cNvSpPr/>
          <p:nvPr/>
        </p:nvSpPr>
        <p:spPr>
          <a:xfrm>
            <a:off x="838200" y="5786846"/>
            <a:ext cx="10515600" cy="1071154"/>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solidFill>
                  <a:schemeClr val="tx1"/>
                </a:solidFill>
              </a:rPr>
              <a:t>This is Annual Plan Bulk upload page. Click on excel icon to download the template. Add your data and upload it. </a:t>
            </a:r>
            <a:endParaRPr lang="en-IN" sz="2800" dirty="0">
              <a:solidFill>
                <a:schemeClr val="tx1"/>
              </a:solidFill>
            </a:endParaRPr>
          </a:p>
        </p:txBody>
      </p:sp>
    </p:spTree>
    <p:extLst>
      <p:ext uri="{BB962C8B-B14F-4D97-AF65-F5344CB8AC3E}">
        <p14:creationId xmlns:p14="http://schemas.microsoft.com/office/powerpoint/2010/main" val="40844940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2457450" y="1514475"/>
            <a:ext cx="7553325" cy="37052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200" dirty="0" smtClean="0"/>
              <a:t>Approval Management</a:t>
            </a:r>
            <a:endParaRPr lang="en-US" sz="7200" dirty="0"/>
          </a:p>
        </p:txBody>
      </p:sp>
    </p:spTree>
    <p:extLst>
      <p:ext uri="{BB962C8B-B14F-4D97-AF65-F5344CB8AC3E}">
        <p14:creationId xmlns:p14="http://schemas.microsoft.com/office/powerpoint/2010/main" val="419053888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stretch>
            <a:fillRect/>
          </a:stretch>
        </p:blipFill>
        <p:spPr>
          <a:xfrm>
            <a:off x="-2976" y="0"/>
            <a:ext cx="12197953" cy="6858000"/>
          </a:xfrm>
          <a:prstGeom prst="rect">
            <a:avLst/>
          </a:prstGeom>
        </p:spPr>
      </p:pic>
      <p:sp>
        <p:nvSpPr>
          <p:cNvPr id="5" name="Rectangle 4"/>
          <p:cNvSpPr/>
          <p:nvPr/>
        </p:nvSpPr>
        <p:spPr>
          <a:xfrm>
            <a:off x="838200" y="5029199"/>
            <a:ext cx="10515600" cy="1828801"/>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This is </a:t>
            </a:r>
            <a:r>
              <a:rPr lang="en-US" sz="2800" dirty="0" smtClean="0">
                <a:solidFill>
                  <a:schemeClr val="tx1"/>
                </a:solidFill>
              </a:rPr>
              <a:t>Approval List </a:t>
            </a:r>
            <a:r>
              <a:rPr lang="en-US" sz="2800" dirty="0">
                <a:solidFill>
                  <a:schemeClr val="tx1"/>
                </a:solidFill>
              </a:rPr>
              <a:t>Page. Click on + icon in the top-right corner to add a new </a:t>
            </a:r>
            <a:r>
              <a:rPr lang="en-US" sz="2800" dirty="0" smtClean="0">
                <a:solidFill>
                  <a:schemeClr val="tx1"/>
                </a:solidFill>
              </a:rPr>
              <a:t>Approval. </a:t>
            </a:r>
            <a:r>
              <a:rPr lang="en-US" sz="2800" dirty="0">
                <a:solidFill>
                  <a:schemeClr val="tx1"/>
                </a:solidFill>
              </a:rPr>
              <a:t>Click on upload button adjacent to it for adding </a:t>
            </a:r>
            <a:r>
              <a:rPr lang="en-US" sz="2800" dirty="0" smtClean="0">
                <a:solidFill>
                  <a:schemeClr val="tx1"/>
                </a:solidFill>
              </a:rPr>
              <a:t>Approvals in </a:t>
            </a:r>
            <a:r>
              <a:rPr lang="en-US" sz="2800" dirty="0">
                <a:solidFill>
                  <a:schemeClr val="tx1"/>
                </a:solidFill>
              </a:rPr>
              <a:t>bulk. Click on download icon near Search input to download the </a:t>
            </a:r>
            <a:r>
              <a:rPr lang="en-US" sz="2800" dirty="0" smtClean="0">
                <a:solidFill>
                  <a:schemeClr val="tx1"/>
                </a:solidFill>
              </a:rPr>
              <a:t>data</a:t>
            </a:r>
            <a:r>
              <a:rPr lang="en-US" sz="2800" dirty="0">
                <a:solidFill>
                  <a:schemeClr val="tx1"/>
                </a:solidFill>
              </a:rPr>
              <a:t>.</a:t>
            </a:r>
          </a:p>
        </p:txBody>
      </p:sp>
    </p:spTree>
    <p:extLst>
      <p:ext uri="{BB962C8B-B14F-4D97-AF65-F5344CB8AC3E}">
        <p14:creationId xmlns:p14="http://schemas.microsoft.com/office/powerpoint/2010/main" val="382787203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pic>
        <p:nvPicPr>
          <p:cNvPr id="4" name="Picture 3"/>
          <p:cNvPicPr>
            <a:picLocks noChangeAspect="1"/>
          </p:cNvPicPr>
          <p:nvPr/>
        </p:nvPicPr>
        <p:blipFill>
          <a:blip r:embed="rId2"/>
          <a:stretch>
            <a:fillRect/>
          </a:stretch>
        </p:blipFill>
        <p:spPr>
          <a:xfrm>
            <a:off x="-2976" y="0"/>
            <a:ext cx="12197953" cy="6858000"/>
          </a:xfrm>
          <a:prstGeom prst="rect">
            <a:avLst/>
          </a:prstGeom>
        </p:spPr>
      </p:pic>
      <p:sp>
        <p:nvSpPr>
          <p:cNvPr id="5" name="Rectangle 4"/>
          <p:cNvSpPr/>
          <p:nvPr/>
        </p:nvSpPr>
        <p:spPr>
          <a:xfrm>
            <a:off x="838200" y="5747657"/>
            <a:ext cx="10515600" cy="1110343"/>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This is </a:t>
            </a:r>
            <a:r>
              <a:rPr lang="en-US" sz="2800" dirty="0" smtClean="0">
                <a:solidFill>
                  <a:schemeClr val="tx1"/>
                </a:solidFill>
              </a:rPr>
              <a:t>Approval Submission form </a:t>
            </a:r>
            <a:r>
              <a:rPr lang="en-US" sz="2800" dirty="0">
                <a:solidFill>
                  <a:schemeClr val="tx1"/>
                </a:solidFill>
              </a:rPr>
              <a:t>page. Click on list icon at top-right corner to navigate </a:t>
            </a:r>
            <a:r>
              <a:rPr lang="en-US" sz="2800" dirty="0" smtClean="0">
                <a:solidFill>
                  <a:schemeClr val="tx1"/>
                </a:solidFill>
              </a:rPr>
              <a:t>to Approval </a:t>
            </a:r>
            <a:r>
              <a:rPr lang="en-US" sz="2800" dirty="0">
                <a:solidFill>
                  <a:schemeClr val="tx1"/>
                </a:solidFill>
              </a:rPr>
              <a:t>list.</a:t>
            </a:r>
            <a:endParaRPr lang="en-IN" sz="2800" dirty="0">
              <a:solidFill>
                <a:schemeClr val="tx1"/>
              </a:solidFill>
            </a:endParaRPr>
          </a:p>
        </p:txBody>
      </p:sp>
    </p:spTree>
    <p:extLst>
      <p:ext uri="{BB962C8B-B14F-4D97-AF65-F5344CB8AC3E}">
        <p14:creationId xmlns:p14="http://schemas.microsoft.com/office/powerpoint/2010/main" val="420898154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dirty="0"/>
          </a:p>
        </p:txBody>
      </p:sp>
      <p:pic>
        <p:nvPicPr>
          <p:cNvPr id="4" name="Picture 3"/>
          <p:cNvPicPr>
            <a:picLocks noChangeAspect="1"/>
          </p:cNvPicPr>
          <p:nvPr/>
        </p:nvPicPr>
        <p:blipFill>
          <a:blip r:embed="rId2"/>
          <a:stretch>
            <a:fillRect/>
          </a:stretch>
        </p:blipFill>
        <p:spPr>
          <a:xfrm>
            <a:off x="-2976" y="0"/>
            <a:ext cx="12197953" cy="6858000"/>
          </a:xfrm>
          <a:prstGeom prst="rect">
            <a:avLst/>
          </a:prstGeom>
        </p:spPr>
      </p:pic>
      <p:sp>
        <p:nvSpPr>
          <p:cNvPr id="5" name="Rectangle 4"/>
          <p:cNvSpPr/>
          <p:nvPr/>
        </p:nvSpPr>
        <p:spPr>
          <a:xfrm>
            <a:off x="838200" y="5682343"/>
            <a:ext cx="10515600" cy="1175657"/>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This is </a:t>
            </a:r>
            <a:r>
              <a:rPr lang="en-US" sz="2800" dirty="0" smtClean="0">
                <a:solidFill>
                  <a:schemeClr val="tx1"/>
                </a:solidFill>
              </a:rPr>
              <a:t>Approval Bulk </a:t>
            </a:r>
            <a:r>
              <a:rPr lang="en-US" sz="2800" dirty="0">
                <a:solidFill>
                  <a:schemeClr val="tx1"/>
                </a:solidFill>
              </a:rPr>
              <a:t>upload page. Click on excel icon to download the template. Add your data and upload it. </a:t>
            </a:r>
            <a:endParaRPr lang="en-IN" sz="2800" dirty="0">
              <a:solidFill>
                <a:schemeClr val="tx1"/>
              </a:solidFill>
            </a:endParaRPr>
          </a:p>
        </p:txBody>
      </p:sp>
    </p:spTree>
    <p:extLst>
      <p:ext uri="{BB962C8B-B14F-4D97-AF65-F5344CB8AC3E}">
        <p14:creationId xmlns:p14="http://schemas.microsoft.com/office/powerpoint/2010/main" val="57737167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pic>
        <p:nvPicPr>
          <p:cNvPr id="4" name="Picture 3"/>
          <p:cNvPicPr>
            <a:picLocks noChangeAspect="1"/>
          </p:cNvPicPr>
          <p:nvPr/>
        </p:nvPicPr>
        <p:blipFill>
          <a:blip r:embed="rId2"/>
          <a:stretch>
            <a:fillRect/>
          </a:stretch>
        </p:blipFill>
        <p:spPr>
          <a:xfrm>
            <a:off x="-2976" y="0"/>
            <a:ext cx="12197953" cy="6858000"/>
          </a:xfrm>
          <a:prstGeom prst="rect">
            <a:avLst/>
          </a:prstGeom>
        </p:spPr>
      </p:pic>
      <p:sp>
        <p:nvSpPr>
          <p:cNvPr id="5" name="Rectangle 4"/>
          <p:cNvSpPr/>
          <p:nvPr/>
        </p:nvSpPr>
        <p:spPr>
          <a:xfrm>
            <a:off x="838200" y="5355770"/>
            <a:ext cx="10515599" cy="1502229"/>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solidFill>
                  <a:schemeClr val="tx1"/>
                </a:solidFill>
              </a:rPr>
              <a:t>	This is Approval Details page. If the authority is a valid user, he can approve or reject the Approval. </a:t>
            </a:r>
            <a:r>
              <a:rPr lang="en-US" sz="2800" dirty="0">
                <a:solidFill>
                  <a:schemeClr val="tx1"/>
                </a:solidFill>
              </a:rPr>
              <a:t>Also, you can download this page in pdf format by clicking on download icon in top-right corner</a:t>
            </a:r>
            <a:r>
              <a:rPr lang="en-US" sz="2800" dirty="0" smtClean="0">
                <a:solidFill>
                  <a:schemeClr val="tx1"/>
                </a:solidFill>
              </a:rPr>
              <a:t>.</a:t>
            </a:r>
            <a:endParaRPr lang="en-IN" sz="2800" dirty="0">
              <a:solidFill>
                <a:schemeClr val="tx1"/>
              </a:solidFill>
            </a:endParaRPr>
          </a:p>
        </p:txBody>
      </p:sp>
    </p:spTree>
    <p:extLst>
      <p:ext uri="{BB962C8B-B14F-4D97-AF65-F5344CB8AC3E}">
        <p14:creationId xmlns:p14="http://schemas.microsoft.com/office/powerpoint/2010/main" val="162811834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pic>
        <p:nvPicPr>
          <p:cNvPr id="4" name="Picture 3"/>
          <p:cNvPicPr>
            <a:picLocks noChangeAspect="1"/>
          </p:cNvPicPr>
          <p:nvPr/>
        </p:nvPicPr>
        <p:blipFill>
          <a:blip r:embed="rId2"/>
          <a:stretch>
            <a:fillRect/>
          </a:stretch>
        </p:blipFill>
        <p:spPr>
          <a:xfrm>
            <a:off x="-2976" y="0"/>
            <a:ext cx="12197953" cy="6858000"/>
          </a:xfrm>
          <a:prstGeom prst="rect">
            <a:avLst/>
          </a:prstGeom>
          <a:solidFill>
            <a:srgbClr val="FFFF00"/>
          </a:solidFill>
        </p:spPr>
      </p:pic>
      <p:sp>
        <p:nvSpPr>
          <p:cNvPr id="5" name="Rectangle 4"/>
          <p:cNvSpPr/>
          <p:nvPr/>
        </p:nvSpPr>
        <p:spPr>
          <a:xfrm>
            <a:off x="838200" y="5734594"/>
            <a:ext cx="10515600" cy="1123406"/>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solidFill>
                  <a:schemeClr val="tx1"/>
                </a:solidFill>
              </a:rPr>
              <a:t>This is Utilization form page. If approval gets approved by all valid authorities, you can see this button in actions column of Approval list.</a:t>
            </a:r>
            <a:endParaRPr lang="en-IN" sz="2800" dirty="0">
              <a:solidFill>
                <a:schemeClr val="tx1"/>
              </a:solidFill>
            </a:endParaRPr>
          </a:p>
        </p:txBody>
      </p:sp>
    </p:spTree>
    <p:extLst>
      <p:ext uri="{BB962C8B-B14F-4D97-AF65-F5344CB8AC3E}">
        <p14:creationId xmlns:p14="http://schemas.microsoft.com/office/powerpoint/2010/main" val="206347500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457450" y="1514475"/>
            <a:ext cx="7553325" cy="37052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200" dirty="0" smtClean="0"/>
              <a:t>Utilization Management</a:t>
            </a:r>
            <a:endParaRPr lang="en-US" sz="7200" dirty="0"/>
          </a:p>
        </p:txBody>
      </p:sp>
    </p:spTree>
    <p:extLst>
      <p:ext uri="{BB962C8B-B14F-4D97-AF65-F5344CB8AC3E}">
        <p14:creationId xmlns:p14="http://schemas.microsoft.com/office/powerpoint/2010/main" val="379516014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pic>
        <p:nvPicPr>
          <p:cNvPr id="4" name="Picture 3"/>
          <p:cNvPicPr>
            <a:picLocks noChangeAspect="1"/>
          </p:cNvPicPr>
          <p:nvPr/>
        </p:nvPicPr>
        <p:blipFill>
          <a:blip r:embed="rId2"/>
          <a:stretch>
            <a:fillRect/>
          </a:stretch>
        </p:blipFill>
        <p:spPr>
          <a:xfrm>
            <a:off x="-2976" y="0"/>
            <a:ext cx="12197953" cy="6858000"/>
          </a:xfrm>
          <a:prstGeom prst="rect">
            <a:avLst/>
          </a:prstGeom>
        </p:spPr>
      </p:pic>
      <p:sp>
        <p:nvSpPr>
          <p:cNvPr id="5" name="Rectangle 4"/>
          <p:cNvSpPr/>
          <p:nvPr/>
        </p:nvSpPr>
        <p:spPr>
          <a:xfrm>
            <a:off x="838200" y="5277394"/>
            <a:ext cx="10515600" cy="1580606"/>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This is </a:t>
            </a:r>
            <a:r>
              <a:rPr lang="en-US" sz="2800" dirty="0" smtClean="0">
                <a:solidFill>
                  <a:schemeClr val="tx1"/>
                </a:solidFill>
              </a:rPr>
              <a:t>Utilization List </a:t>
            </a:r>
            <a:r>
              <a:rPr lang="en-US" sz="2800" dirty="0">
                <a:solidFill>
                  <a:schemeClr val="tx1"/>
                </a:solidFill>
              </a:rPr>
              <a:t>Page</a:t>
            </a:r>
            <a:r>
              <a:rPr lang="en-US" sz="2800" dirty="0" smtClean="0">
                <a:solidFill>
                  <a:schemeClr val="tx1"/>
                </a:solidFill>
              </a:rPr>
              <a:t>. </a:t>
            </a:r>
            <a:r>
              <a:rPr lang="en-US" sz="2800" dirty="0">
                <a:solidFill>
                  <a:schemeClr val="tx1"/>
                </a:solidFill>
              </a:rPr>
              <a:t>Click on upload button adjacent to it for adding </a:t>
            </a:r>
            <a:r>
              <a:rPr lang="en-US" sz="2800" dirty="0" smtClean="0">
                <a:solidFill>
                  <a:schemeClr val="tx1"/>
                </a:solidFill>
              </a:rPr>
              <a:t>Utilizations in </a:t>
            </a:r>
            <a:r>
              <a:rPr lang="en-US" sz="2800" dirty="0">
                <a:solidFill>
                  <a:schemeClr val="tx1"/>
                </a:solidFill>
              </a:rPr>
              <a:t>bulk. Click on download icon near Search input to download the </a:t>
            </a:r>
            <a:r>
              <a:rPr lang="en-US" sz="2800" dirty="0" smtClean="0">
                <a:solidFill>
                  <a:schemeClr val="tx1"/>
                </a:solidFill>
              </a:rPr>
              <a:t>data</a:t>
            </a:r>
            <a:r>
              <a:rPr lang="en-US" sz="2800" dirty="0">
                <a:solidFill>
                  <a:schemeClr val="tx1"/>
                </a:solidFill>
              </a:rPr>
              <a:t>.</a:t>
            </a:r>
          </a:p>
        </p:txBody>
      </p:sp>
    </p:spTree>
    <p:extLst>
      <p:ext uri="{BB962C8B-B14F-4D97-AF65-F5344CB8AC3E}">
        <p14:creationId xmlns:p14="http://schemas.microsoft.com/office/powerpoint/2010/main" val="98462073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pic>
        <p:nvPicPr>
          <p:cNvPr id="4" name="Picture 3"/>
          <p:cNvPicPr>
            <a:picLocks noChangeAspect="1"/>
          </p:cNvPicPr>
          <p:nvPr/>
        </p:nvPicPr>
        <p:blipFill>
          <a:blip r:embed="rId2"/>
          <a:stretch>
            <a:fillRect/>
          </a:stretch>
        </p:blipFill>
        <p:spPr>
          <a:xfrm>
            <a:off x="-2976" y="0"/>
            <a:ext cx="12197953" cy="6858000"/>
          </a:xfrm>
          <a:prstGeom prst="rect">
            <a:avLst/>
          </a:prstGeom>
        </p:spPr>
      </p:pic>
      <p:sp>
        <p:nvSpPr>
          <p:cNvPr id="5" name="Rectangle 4"/>
          <p:cNvSpPr/>
          <p:nvPr/>
        </p:nvSpPr>
        <p:spPr>
          <a:xfrm>
            <a:off x="838200" y="5682343"/>
            <a:ext cx="10515600" cy="1175657"/>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This </a:t>
            </a:r>
            <a:r>
              <a:rPr lang="en-US" sz="2800" dirty="0" smtClean="0">
                <a:solidFill>
                  <a:schemeClr val="tx1"/>
                </a:solidFill>
              </a:rPr>
              <a:t>is Utilization Bulk </a:t>
            </a:r>
            <a:r>
              <a:rPr lang="en-US" sz="2800" dirty="0">
                <a:solidFill>
                  <a:schemeClr val="tx1"/>
                </a:solidFill>
              </a:rPr>
              <a:t>upload page. Click on excel icon to download the template. Add your data and upload it. </a:t>
            </a:r>
            <a:endParaRPr lang="en-IN" sz="2800" dirty="0">
              <a:solidFill>
                <a:schemeClr val="tx1"/>
              </a:solidFill>
            </a:endParaRPr>
          </a:p>
        </p:txBody>
      </p:sp>
    </p:spTree>
    <p:extLst>
      <p:ext uri="{BB962C8B-B14F-4D97-AF65-F5344CB8AC3E}">
        <p14:creationId xmlns:p14="http://schemas.microsoft.com/office/powerpoint/2010/main" val="280357693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pic>
        <p:nvPicPr>
          <p:cNvPr id="4" name="Picture 3"/>
          <p:cNvPicPr>
            <a:picLocks noChangeAspect="1"/>
          </p:cNvPicPr>
          <p:nvPr/>
        </p:nvPicPr>
        <p:blipFill>
          <a:blip r:embed="rId2"/>
          <a:stretch>
            <a:fillRect/>
          </a:stretch>
        </p:blipFill>
        <p:spPr>
          <a:xfrm>
            <a:off x="-2976" y="0"/>
            <a:ext cx="12197953" cy="6858000"/>
          </a:xfrm>
          <a:prstGeom prst="rect">
            <a:avLst/>
          </a:prstGeom>
        </p:spPr>
      </p:pic>
      <p:sp>
        <p:nvSpPr>
          <p:cNvPr id="5" name="Rectangle 4"/>
          <p:cNvSpPr/>
          <p:nvPr/>
        </p:nvSpPr>
        <p:spPr>
          <a:xfrm>
            <a:off x="838200" y="5277394"/>
            <a:ext cx="10515599" cy="1580605"/>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solidFill>
                  <a:schemeClr val="tx1"/>
                </a:solidFill>
              </a:rPr>
              <a:t>	This is Utilization Details page. If the authority is a valid user, he can approve or reject the Utilization Approval. Also, you can download this page in pdf format by clicking on download icon in top-right corner.</a:t>
            </a:r>
            <a:endParaRPr lang="en-IN" sz="2800" dirty="0">
              <a:solidFill>
                <a:schemeClr val="tx1"/>
              </a:solidFill>
            </a:endParaRPr>
          </a:p>
        </p:txBody>
      </p:sp>
    </p:spTree>
    <p:extLst>
      <p:ext uri="{BB962C8B-B14F-4D97-AF65-F5344CB8AC3E}">
        <p14:creationId xmlns:p14="http://schemas.microsoft.com/office/powerpoint/2010/main" val="250630698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457450" y="1514475"/>
            <a:ext cx="7553325" cy="37052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200" dirty="0" smtClean="0"/>
              <a:t>Fund Management</a:t>
            </a:r>
            <a:endParaRPr lang="en-US" sz="7200" dirty="0"/>
          </a:p>
        </p:txBody>
      </p:sp>
    </p:spTree>
    <p:extLst>
      <p:ext uri="{BB962C8B-B14F-4D97-AF65-F5344CB8AC3E}">
        <p14:creationId xmlns:p14="http://schemas.microsoft.com/office/powerpoint/2010/main" val="245670950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dirty="0"/>
          </a:p>
        </p:txBody>
      </p:sp>
      <p:pic>
        <p:nvPicPr>
          <p:cNvPr id="5" name="Content Placeholder 4"/>
          <p:cNvPicPr>
            <a:picLocks noGrp="1" noChangeAspect="1"/>
          </p:cNvPicPr>
          <p:nvPr>
            <p:ph idx="1"/>
          </p:nvPr>
        </p:nvPicPr>
        <p:blipFill>
          <a:blip r:embed="rId2"/>
          <a:stretch>
            <a:fillRect/>
          </a:stretch>
        </p:blipFill>
        <p:spPr>
          <a:xfrm>
            <a:off x="0" y="0"/>
            <a:ext cx="12197953" cy="6858000"/>
          </a:xfrm>
          <a:prstGeom prst="rect">
            <a:avLst/>
          </a:prstGeom>
        </p:spPr>
      </p:pic>
      <p:sp>
        <p:nvSpPr>
          <p:cNvPr id="6" name="Rectangle 5"/>
          <p:cNvSpPr/>
          <p:nvPr/>
        </p:nvSpPr>
        <p:spPr>
          <a:xfrm>
            <a:off x="838200" y="5029200"/>
            <a:ext cx="10515600" cy="1828800"/>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This is </a:t>
            </a:r>
            <a:r>
              <a:rPr lang="en-US" sz="2800" dirty="0" smtClean="0">
                <a:solidFill>
                  <a:schemeClr val="tx1"/>
                </a:solidFill>
              </a:rPr>
              <a:t>External Grant List </a:t>
            </a:r>
            <a:r>
              <a:rPr lang="en-US" sz="2800" dirty="0">
                <a:solidFill>
                  <a:schemeClr val="tx1"/>
                </a:solidFill>
              </a:rPr>
              <a:t>Page. Click on + icon in the top-right corner to add a new </a:t>
            </a:r>
            <a:r>
              <a:rPr lang="en-US" sz="2800" dirty="0" smtClean="0">
                <a:solidFill>
                  <a:schemeClr val="tx1"/>
                </a:solidFill>
              </a:rPr>
              <a:t>External Grant. </a:t>
            </a:r>
            <a:r>
              <a:rPr lang="en-US" sz="2800" dirty="0">
                <a:solidFill>
                  <a:schemeClr val="tx1"/>
                </a:solidFill>
              </a:rPr>
              <a:t>Click on upload button adjacent to it for adding </a:t>
            </a:r>
            <a:r>
              <a:rPr lang="en-US" sz="2800" dirty="0" smtClean="0">
                <a:solidFill>
                  <a:schemeClr val="tx1"/>
                </a:solidFill>
              </a:rPr>
              <a:t>External Grants in </a:t>
            </a:r>
            <a:r>
              <a:rPr lang="en-US" sz="2800" dirty="0">
                <a:solidFill>
                  <a:schemeClr val="tx1"/>
                </a:solidFill>
              </a:rPr>
              <a:t>bulk. Click on download icon near Search input to download the data.</a:t>
            </a:r>
            <a:endParaRPr lang="en-IN" sz="2800" dirty="0">
              <a:solidFill>
                <a:schemeClr val="tx1"/>
              </a:solidFill>
            </a:endParaRPr>
          </a:p>
        </p:txBody>
      </p:sp>
    </p:spTree>
    <p:extLst>
      <p:ext uri="{BB962C8B-B14F-4D97-AF65-F5344CB8AC3E}">
        <p14:creationId xmlns:p14="http://schemas.microsoft.com/office/powerpoint/2010/main" val="148440377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stretch>
            <a:fillRect/>
          </a:stretch>
        </p:blipFill>
        <p:spPr>
          <a:xfrm>
            <a:off x="-2976" y="0"/>
            <a:ext cx="12197953" cy="6858000"/>
          </a:xfrm>
          <a:prstGeom prst="rect">
            <a:avLst/>
          </a:prstGeom>
        </p:spPr>
      </p:pic>
      <p:sp>
        <p:nvSpPr>
          <p:cNvPr id="5" name="Rectangle 4"/>
          <p:cNvSpPr/>
          <p:nvPr/>
        </p:nvSpPr>
        <p:spPr>
          <a:xfrm>
            <a:off x="838200" y="5747657"/>
            <a:ext cx="10515600" cy="1110343"/>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This is </a:t>
            </a:r>
            <a:r>
              <a:rPr lang="en-US" sz="2800" dirty="0" smtClean="0">
                <a:solidFill>
                  <a:schemeClr val="tx1"/>
                </a:solidFill>
              </a:rPr>
              <a:t>External Grant Submission form </a:t>
            </a:r>
            <a:r>
              <a:rPr lang="en-US" sz="2800" dirty="0">
                <a:solidFill>
                  <a:schemeClr val="tx1"/>
                </a:solidFill>
              </a:rPr>
              <a:t>page. Click on list icon at top-right corner to navigate </a:t>
            </a:r>
            <a:r>
              <a:rPr lang="en-US" sz="2800" dirty="0" smtClean="0">
                <a:solidFill>
                  <a:schemeClr val="tx1"/>
                </a:solidFill>
              </a:rPr>
              <a:t>to External Grant </a:t>
            </a:r>
            <a:r>
              <a:rPr lang="en-US" sz="2800" dirty="0">
                <a:solidFill>
                  <a:schemeClr val="tx1"/>
                </a:solidFill>
              </a:rPr>
              <a:t>list.</a:t>
            </a:r>
            <a:endParaRPr lang="en-IN" sz="2800" dirty="0">
              <a:solidFill>
                <a:schemeClr val="tx1"/>
              </a:solidFill>
            </a:endParaRPr>
          </a:p>
        </p:txBody>
      </p:sp>
    </p:spTree>
    <p:extLst>
      <p:ext uri="{BB962C8B-B14F-4D97-AF65-F5344CB8AC3E}">
        <p14:creationId xmlns:p14="http://schemas.microsoft.com/office/powerpoint/2010/main" val="198808749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stretch>
            <a:fillRect/>
          </a:stretch>
        </p:blipFill>
        <p:spPr>
          <a:xfrm>
            <a:off x="-2976" y="0"/>
            <a:ext cx="12197953" cy="6858000"/>
          </a:xfrm>
          <a:prstGeom prst="rect">
            <a:avLst/>
          </a:prstGeom>
        </p:spPr>
      </p:pic>
      <p:sp>
        <p:nvSpPr>
          <p:cNvPr id="5" name="Rectangle 4"/>
          <p:cNvSpPr/>
          <p:nvPr/>
        </p:nvSpPr>
        <p:spPr>
          <a:xfrm>
            <a:off x="838200" y="5682343"/>
            <a:ext cx="10515600" cy="1175657"/>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This </a:t>
            </a:r>
            <a:r>
              <a:rPr lang="en-US" sz="2800" dirty="0" smtClean="0">
                <a:solidFill>
                  <a:schemeClr val="tx1"/>
                </a:solidFill>
              </a:rPr>
              <a:t>is External Grant Bulk </a:t>
            </a:r>
            <a:r>
              <a:rPr lang="en-US" sz="2800" dirty="0">
                <a:solidFill>
                  <a:schemeClr val="tx1"/>
                </a:solidFill>
              </a:rPr>
              <a:t>upload page. Click on excel icon to download the template. Add your data and upload it. </a:t>
            </a:r>
            <a:endParaRPr lang="en-IN" sz="2800" dirty="0">
              <a:solidFill>
                <a:schemeClr val="tx1"/>
              </a:solidFill>
            </a:endParaRPr>
          </a:p>
        </p:txBody>
      </p:sp>
    </p:spTree>
    <p:extLst>
      <p:ext uri="{BB962C8B-B14F-4D97-AF65-F5344CB8AC3E}">
        <p14:creationId xmlns:p14="http://schemas.microsoft.com/office/powerpoint/2010/main" val="376823539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stretch>
            <a:fillRect/>
          </a:stretch>
        </p:blipFill>
        <p:spPr>
          <a:xfrm>
            <a:off x="-2976" y="0"/>
            <a:ext cx="12197953" cy="6858000"/>
          </a:xfrm>
          <a:prstGeom prst="rect">
            <a:avLst/>
          </a:prstGeom>
        </p:spPr>
      </p:pic>
      <p:sp>
        <p:nvSpPr>
          <p:cNvPr id="5" name="Rectangle 4"/>
          <p:cNvSpPr/>
          <p:nvPr/>
        </p:nvSpPr>
        <p:spPr>
          <a:xfrm>
            <a:off x="838200" y="5029200"/>
            <a:ext cx="10515600" cy="1828800"/>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This is </a:t>
            </a:r>
            <a:r>
              <a:rPr lang="en-US" sz="2800" dirty="0" smtClean="0">
                <a:solidFill>
                  <a:schemeClr val="tx1"/>
                </a:solidFill>
              </a:rPr>
              <a:t>Community Contribution List </a:t>
            </a:r>
            <a:r>
              <a:rPr lang="en-US" sz="2800" dirty="0">
                <a:solidFill>
                  <a:schemeClr val="tx1"/>
                </a:solidFill>
              </a:rPr>
              <a:t>Page. Click on + icon in the top-right corner to add a new </a:t>
            </a:r>
            <a:r>
              <a:rPr lang="en-US" sz="2800" dirty="0" smtClean="0">
                <a:solidFill>
                  <a:schemeClr val="tx1"/>
                </a:solidFill>
              </a:rPr>
              <a:t>Community Contribution. </a:t>
            </a:r>
            <a:r>
              <a:rPr lang="en-US" sz="2800" dirty="0">
                <a:solidFill>
                  <a:schemeClr val="tx1"/>
                </a:solidFill>
              </a:rPr>
              <a:t>Click on upload button adjacent to it for adding </a:t>
            </a:r>
            <a:r>
              <a:rPr lang="en-US" sz="2800" dirty="0" smtClean="0">
                <a:solidFill>
                  <a:schemeClr val="tx1"/>
                </a:solidFill>
              </a:rPr>
              <a:t>Community Contributions in </a:t>
            </a:r>
            <a:r>
              <a:rPr lang="en-US" sz="2800" dirty="0">
                <a:solidFill>
                  <a:schemeClr val="tx1"/>
                </a:solidFill>
              </a:rPr>
              <a:t>bulk. Click on download icon near Search input to download the data.</a:t>
            </a:r>
            <a:endParaRPr lang="en-IN" sz="2800" dirty="0">
              <a:solidFill>
                <a:schemeClr val="tx1"/>
              </a:solidFill>
            </a:endParaRPr>
          </a:p>
        </p:txBody>
      </p:sp>
    </p:spTree>
    <p:extLst>
      <p:ext uri="{BB962C8B-B14F-4D97-AF65-F5344CB8AC3E}">
        <p14:creationId xmlns:p14="http://schemas.microsoft.com/office/powerpoint/2010/main" val="169212905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pic>
        <p:nvPicPr>
          <p:cNvPr id="4" name="Picture 3"/>
          <p:cNvPicPr>
            <a:picLocks noChangeAspect="1"/>
          </p:cNvPicPr>
          <p:nvPr/>
        </p:nvPicPr>
        <p:blipFill>
          <a:blip r:embed="rId2"/>
          <a:stretch>
            <a:fillRect/>
          </a:stretch>
        </p:blipFill>
        <p:spPr>
          <a:xfrm>
            <a:off x="-2976" y="0"/>
            <a:ext cx="12197953" cy="6858000"/>
          </a:xfrm>
          <a:prstGeom prst="rect">
            <a:avLst/>
          </a:prstGeom>
        </p:spPr>
      </p:pic>
      <p:sp>
        <p:nvSpPr>
          <p:cNvPr id="5" name="Rectangle 4"/>
          <p:cNvSpPr/>
          <p:nvPr/>
        </p:nvSpPr>
        <p:spPr>
          <a:xfrm>
            <a:off x="838200" y="5747657"/>
            <a:ext cx="10515600" cy="1110343"/>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This is </a:t>
            </a:r>
            <a:r>
              <a:rPr lang="en-US" sz="2800" dirty="0" smtClean="0">
                <a:solidFill>
                  <a:schemeClr val="tx1"/>
                </a:solidFill>
              </a:rPr>
              <a:t>Community Contribution Submission form </a:t>
            </a:r>
            <a:r>
              <a:rPr lang="en-US" sz="2800" dirty="0">
                <a:solidFill>
                  <a:schemeClr val="tx1"/>
                </a:solidFill>
              </a:rPr>
              <a:t>page. Click on list icon at top-right corner to navigate </a:t>
            </a:r>
            <a:r>
              <a:rPr lang="en-US" sz="2800" dirty="0" smtClean="0">
                <a:solidFill>
                  <a:schemeClr val="tx1"/>
                </a:solidFill>
              </a:rPr>
              <a:t>to Community Contribution list</a:t>
            </a:r>
            <a:r>
              <a:rPr lang="en-US" sz="2800" dirty="0">
                <a:solidFill>
                  <a:schemeClr val="tx1"/>
                </a:solidFill>
              </a:rPr>
              <a:t>.</a:t>
            </a:r>
            <a:endParaRPr lang="en-IN" sz="2800" dirty="0">
              <a:solidFill>
                <a:schemeClr val="tx1"/>
              </a:solidFill>
            </a:endParaRPr>
          </a:p>
        </p:txBody>
      </p:sp>
    </p:spTree>
    <p:extLst>
      <p:ext uri="{BB962C8B-B14F-4D97-AF65-F5344CB8AC3E}">
        <p14:creationId xmlns:p14="http://schemas.microsoft.com/office/powerpoint/2010/main" val="404719008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pic>
        <p:nvPicPr>
          <p:cNvPr id="4" name="Picture 3"/>
          <p:cNvPicPr>
            <a:picLocks noChangeAspect="1"/>
          </p:cNvPicPr>
          <p:nvPr/>
        </p:nvPicPr>
        <p:blipFill>
          <a:blip r:embed="rId2"/>
          <a:stretch>
            <a:fillRect/>
          </a:stretch>
        </p:blipFill>
        <p:spPr>
          <a:xfrm>
            <a:off x="-2976" y="0"/>
            <a:ext cx="12197953" cy="6858000"/>
          </a:xfrm>
          <a:prstGeom prst="rect">
            <a:avLst/>
          </a:prstGeom>
        </p:spPr>
      </p:pic>
      <p:sp>
        <p:nvSpPr>
          <p:cNvPr id="5" name="Rectangle 4"/>
          <p:cNvSpPr/>
          <p:nvPr/>
        </p:nvSpPr>
        <p:spPr>
          <a:xfrm>
            <a:off x="838200" y="5682343"/>
            <a:ext cx="10515600" cy="1175657"/>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This </a:t>
            </a:r>
            <a:r>
              <a:rPr lang="en-US" sz="2800" dirty="0" smtClean="0">
                <a:solidFill>
                  <a:schemeClr val="tx1"/>
                </a:solidFill>
              </a:rPr>
              <a:t>is Community Contribution Bulk </a:t>
            </a:r>
            <a:r>
              <a:rPr lang="en-US" sz="2800" dirty="0">
                <a:solidFill>
                  <a:schemeClr val="tx1"/>
                </a:solidFill>
              </a:rPr>
              <a:t>upload page. Click on excel icon to download the template. Add your data and upload it. </a:t>
            </a:r>
            <a:endParaRPr lang="en-IN" sz="2800" dirty="0">
              <a:solidFill>
                <a:schemeClr val="tx1"/>
              </a:solidFill>
            </a:endParaRPr>
          </a:p>
        </p:txBody>
      </p:sp>
    </p:spTree>
    <p:extLst>
      <p:ext uri="{BB962C8B-B14F-4D97-AF65-F5344CB8AC3E}">
        <p14:creationId xmlns:p14="http://schemas.microsoft.com/office/powerpoint/2010/main" val="387303509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stretch>
            <a:fillRect/>
          </a:stretch>
        </p:blipFill>
        <p:spPr>
          <a:xfrm>
            <a:off x="-2976" y="0"/>
            <a:ext cx="12197953" cy="6858000"/>
          </a:xfrm>
          <a:prstGeom prst="rect">
            <a:avLst/>
          </a:prstGeom>
        </p:spPr>
      </p:pic>
      <p:sp>
        <p:nvSpPr>
          <p:cNvPr id="6" name="Rectangle 5"/>
          <p:cNvSpPr/>
          <p:nvPr/>
        </p:nvSpPr>
        <p:spPr>
          <a:xfrm>
            <a:off x="838200" y="5708468"/>
            <a:ext cx="10515599" cy="1149531"/>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solidFill>
                  <a:schemeClr val="tx1"/>
                </a:solidFill>
              </a:rPr>
              <a:t>	This is Community Contribution Details page. You can download this page in pdf format by clicking on download icon in top-right corner.</a:t>
            </a:r>
            <a:endParaRPr lang="en-IN" sz="2800" dirty="0">
              <a:solidFill>
                <a:schemeClr val="tx1"/>
              </a:solidFill>
            </a:endParaRPr>
          </a:p>
        </p:txBody>
      </p:sp>
    </p:spTree>
    <p:extLst>
      <p:ext uri="{BB962C8B-B14F-4D97-AF65-F5344CB8AC3E}">
        <p14:creationId xmlns:p14="http://schemas.microsoft.com/office/powerpoint/2010/main" val="376130592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2457450" y="1514475"/>
            <a:ext cx="7553325" cy="37052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200" dirty="0" smtClean="0"/>
              <a:t>Reports</a:t>
            </a:r>
            <a:endParaRPr lang="en-US" sz="7200" dirty="0"/>
          </a:p>
        </p:txBody>
      </p:sp>
    </p:spTree>
    <p:extLst>
      <p:ext uri="{BB962C8B-B14F-4D97-AF65-F5344CB8AC3E}">
        <p14:creationId xmlns:p14="http://schemas.microsoft.com/office/powerpoint/2010/main" val="304862837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stretch>
            <a:fillRect/>
          </a:stretch>
        </p:blipFill>
        <p:spPr>
          <a:xfrm>
            <a:off x="-2976" y="0"/>
            <a:ext cx="12197953" cy="6858000"/>
          </a:xfrm>
          <a:prstGeom prst="rect">
            <a:avLst/>
          </a:prstGeom>
        </p:spPr>
      </p:pic>
      <p:sp>
        <p:nvSpPr>
          <p:cNvPr id="5" name="Rectangle 4"/>
          <p:cNvSpPr/>
          <p:nvPr/>
        </p:nvSpPr>
        <p:spPr>
          <a:xfrm>
            <a:off x="838200" y="5760720"/>
            <a:ext cx="10515600" cy="1097279"/>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This is </a:t>
            </a:r>
            <a:r>
              <a:rPr lang="en-US" sz="2800" dirty="0" smtClean="0">
                <a:solidFill>
                  <a:schemeClr val="tx1"/>
                </a:solidFill>
              </a:rPr>
              <a:t>Approval vs Utilization Report Page</a:t>
            </a:r>
            <a:r>
              <a:rPr lang="en-US" sz="2800" dirty="0">
                <a:solidFill>
                  <a:schemeClr val="tx1"/>
                </a:solidFill>
              </a:rPr>
              <a:t>. </a:t>
            </a:r>
            <a:r>
              <a:rPr lang="en-US" sz="2800" dirty="0" smtClean="0">
                <a:solidFill>
                  <a:schemeClr val="tx1"/>
                </a:solidFill>
              </a:rPr>
              <a:t>Click </a:t>
            </a:r>
            <a:r>
              <a:rPr lang="en-US" sz="2800" dirty="0">
                <a:solidFill>
                  <a:schemeClr val="tx1"/>
                </a:solidFill>
              </a:rPr>
              <a:t>on download icon near Search input to download </a:t>
            </a:r>
            <a:r>
              <a:rPr lang="en-US" sz="2800" dirty="0" smtClean="0">
                <a:solidFill>
                  <a:schemeClr val="tx1"/>
                </a:solidFill>
              </a:rPr>
              <a:t>the report.</a:t>
            </a:r>
            <a:endParaRPr lang="en-IN" sz="2800" dirty="0">
              <a:solidFill>
                <a:schemeClr val="tx1"/>
              </a:solidFill>
            </a:endParaRPr>
          </a:p>
        </p:txBody>
      </p:sp>
    </p:spTree>
    <p:extLst>
      <p:ext uri="{BB962C8B-B14F-4D97-AF65-F5344CB8AC3E}">
        <p14:creationId xmlns:p14="http://schemas.microsoft.com/office/powerpoint/2010/main" val="355954906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pic>
        <p:nvPicPr>
          <p:cNvPr id="4" name="Picture 3"/>
          <p:cNvPicPr>
            <a:picLocks noChangeAspect="1"/>
          </p:cNvPicPr>
          <p:nvPr/>
        </p:nvPicPr>
        <p:blipFill>
          <a:blip r:embed="rId2"/>
          <a:stretch>
            <a:fillRect/>
          </a:stretch>
        </p:blipFill>
        <p:spPr>
          <a:xfrm>
            <a:off x="-2976" y="0"/>
            <a:ext cx="12197953" cy="6858000"/>
          </a:xfrm>
          <a:prstGeom prst="rect">
            <a:avLst/>
          </a:prstGeom>
        </p:spPr>
      </p:pic>
      <p:sp>
        <p:nvSpPr>
          <p:cNvPr id="7" name="Rectangle 6"/>
          <p:cNvSpPr/>
          <p:nvPr/>
        </p:nvSpPr>
        <p:spPr>
          <a:xfrm>
            <a:off x="838200" y="5760720"/>
            <a:ext cx="10515600" cy="1097279"/>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This is </a:t>
            </a:r>
            <a:r>
              <a:rPr lang="en-US" sz="2800" dirty="0" smtClean="0">
                <a:solidFill>
                  <a:schemeClr val="tx1"/>
                </a:solidFill>
              </a:rPr>
              <a:t>Plan vs Utilization Report Page</a:t>
            </a:r>
            <a:r>
              <a:rPr lang="en-US" sz="2800" dirty="0">
                <a:solidFill>
                  <a:schemeClr val="tx1"/>
                </a:solidFill>
              </a:rPr>
              <a:t>. </a:t>
            </a:r>
            <a:r>
              <a:rPr lang="en-US" sz="2800" dirty="0" smtClean="0">
                <a:solidFill>
                  <a:schemeClr val="tx1"/>
                </a:solidFill>
              </a:rPr>
              <a:t>Click </a:t>
            </a:r>
            <a:r>
              <a:rPr lang="en-US" sz="2800" dirty="0">
                <a:solidFill>
                  <a:schemeClr val="tx1"/>
                </a:solidFill>
              </a:rPr>
              <a:t>on download icon near Search input to download the </a:t>
            </a:r>
            <a:r>
              <a:rPr lang="en-US" sz="2800" dirty="0" smtClean="0">
                <a:solidFill>
                  <a:schemeClr val="tx1"/>
                </a:solidFill>
              </a:rPr>
              <a:t>report.</a:t>
            </a:r>
            <a:endParaRPr lang="en-IN" sz="2800" dirty="0">
              <a:solidFill>
                <a:schemeClr val="tx1"/>
              </a:solidFill>
            </a:endParaRPr>
          </a:p>
        </p:txBody>
      </p:sp>
    </p:spTree>
    <p:extLst>
      <p:ext uri="{BB962C8B-B14F-4D97-AF65-F5344CB8AC3E}">
        <p14:creationId xmlns:p14="http://schemas.microsoft.com/office/powerpoint/2010/main" val="411367403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stretch>
            <a:fillRect/>
          </a:stretch>
        </p:blipFill>
        <p:spPr>
          <a:xfrm>
            <a:off x="-2976" y="0"/>
            <a:ext cx="12197953" cy="6858000"/>
          </a:xfrm>
          <a:prstGeom prst="rect">
            <a:avLst/>
          </a:prstGeom>
        </p:spPr>
      </p:pic>
      <p:sp>
        <p:nvSpPr>
          <p:cNvPr id="6" name="Rectangle 5"/>
          <p:cNvSpPr/>
          <p:nvPr/>
        </p:nvSpPr>
        <p:spPr>
          <a:xfrm>
            <a:off x="838200" y="5760720"/>
            <a:ext cx="10515600" cy="1097279"/>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This is </a:t>
            </a:r>
            <a:r>
              <a:rPr lang="en-US" sz="2800" dirty="0" smtClean="0">
                <a:solidFill>
                  <a:schemeClr val="tx1"/>
                </a:solidFill>
              </a:rPr>
              <a:t>Fund Status Report Page</a:t>
            </a:r>
            <a:r>
              <a:rPr lang="en-US" sz="2800" dirty="0">
                <a:solidFill>
                  <a:schemeClr val="tx1"/>
                </a:solidFill>
              </a:rPr>
              <a:t>. </a:t>
            </a:r>
            <a:r>
              <a:rPr lang="en-US" sz="2800" dirty="0" smtClean="0">
                <a:solidFill>
                  <a:schemeClr val="tx1"/>
                </a:solidFill>
              </a:rPr>
              <a:t>Click </a:t>
            </a:r>
            <a:r>
              <a:rPr lang="en-US" sz="2800" dirty="0">
                <a:solidFill>
                  <a:schemeClr val="tx1"/>
                </a:solidFill>
              </a:rPr>
              <a:t>on download icon near Search input to download the </a:t>
            </a:r>
            <a:r>
              <a:rPr lang="en-US" sz="2800" dirty="0" smtClean="0">
                <a:solidFill>
                  <a:schemeClr val="tx1"/>
                </a:solidFill>
              </a:rPr>
              <a:t>report.</a:t>
            </a:r>
            <a:endParaRPr lang="en-IN" sz="2800" dirty="0">
              <a:solidFill>
                <a:schemeClr val="tx1"/>
              </a:solidFill>
            </a:endParaRPr>
          </a:p>
        </p:txBody>
      </p:sp>
    </p:spTree>
    <p:extLst>
      <p:ext uri="{BB962C8B-B14F-4D97-AF65-F5344CB8AC3E}">
        <p14:creationId xmlns:p14="http://schemas.microsoft.com/office/powerpoint/2010/main" val="130217832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stretch>
            <a:fillRect/>
          </a:stretch>
        </p:blipFill>
        <p:spPr>
          <a:xfrm>
            <a:off x="-2976" y="0"/>
            <a:ext cx="12197953" cy="6858000"/>
          </a:xfrm>
          <a:prstGeom prst="rect">
            <a:avLst/>
          </a:prstGeom>
        </p:spPr>
      </p:pic>
      <p:sp>
        <p:nvSpPr>
          <p:cNvPr id="5" name="Rectangle 4"/>
          <p:cNvSpPr/>
          <p:nvPr/>
        </p:nvSpPr>
        <p:spPr>
          <a:xfrm>
            <a:off x="838200" y="5760720"/>
            <a:ext cx="10515600" cy="1097279"/>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This is </a:t>
            </a:r>
            <a:r>
              <a:rPr lang="en-US" sz="2800" dirty="0" smtClean="0">
                <a:solidFill>
                  <a:schemeClr val="tx1"/>
                </a:solidFill>
              </a:rPr>
              <a:t>Grant Report Page</a:t>
            </a:r>
            <a:r>
              <a:rPr lang="en-US" sz="2800" dirty="0">
                <a:solidFill>
                  <a:schemeClr val="tx1"/>
                </a:solidFill>
              </a:rPr>
              <a:t>. </a:t>
            </a:r>
            <a:r>
              <a:rPr lang="en-US" sz="2800" dirty="0" smtClean="0">
                <a:solidFill>
                  <a:schemeClr val="tx1"/>
                </a:solidFill>
              </a:rPr>
              <a:t>Click </a:t>
            </a:r>
            <a:r>
              <a:rPr lang="en-US" sz="2800" dirty="0">
                <a:solidFill>
                  <a:schemeClr val="tx1"/>
                </a:solidFill>
              </a:rPr>
              <a:t>on download icon near Search input to download the </a:t>
            </a:r>
            <a:r>
              <a:rPr lang="en-US" sz="2800" dirty="0" smtClean="0">
                <a:solidFill>
                  <a:schemeClr val="tx1"/>
                </a:solidFill>
              </a:rPr>
              <a:t>report.</a:t>
            </a:r>
            <a:endParaRPr lang="en-IN" sz="2800" dirty="0">
              <a:solidFill>
                <a:schemeClr val="tx1"/>
              </a:solidFill>
            </a:endParaRPr>
          </a:p>
        </p:txBody>
      </p:sp>
    </p:spTree>
    <p:extLst>
      <p:ext uri="{BB962C8B-B14F-4D97-AF65-F5344CB8AC3E}">
        <p14:creationId xmlns:p14="http://schemas.microsoft.com/office/powerpoint/2010/main" val="154287651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pic>
        <p:nvPicPr>
          <p:cNvPr id="4" name="Picture 3"/>
          <p:cNvPicPr>
            <a:picLocks noChangeAspect="1"/>
          </p:cNvPicPr>
          <p:nvPr/>
        </p:nvPicPr>
        <p:blipFill>
          <a:blip r:embed="rId2"/>
          <a:stretch>
            <a:fillRect/>
          </a:stretch>
        </p:blipFill>
        <p:spPr>
          <a:xfrm>
            <a:off x="-2976" y="0"/>
            <a:ext cx="12197953" cy="6858000"/>
          </a:xfrm>
          <a:prstGeom prst="rect">
            <a:avLst/>
          </a:prstGeom>
        </p:spPr>
      </p:pic>
      <p:sp>
        <p:nvSpPr>
          <p:cNvPr id="5" name="Rectangle 4"/>
          <p:cNvSpPr/>
          <p:nvPr/>
        </p:nvSpPr>
        <p:spPr>
          <a:xfrm>
            <a:off x="838200" y="5760720"/>
            <a:ext cx="10515600" cy="1097279"/>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This </a:t>
            </a:r>
            <a:r>
              <a:rPr lang="en-US" sz="2800" dirty="0" smtClean="0">
                <a:solidFill>
                  <a:schemeClr val="tx1"/>
                </a:solidFill>
              </a:rPr>
              <a:t>Contribution Report Page</a:t>
            </a:r>
            <a:r>
              <a:rPr lang="en-US" sz="2800" dirty="0">
                <a:solidFill>
                  <a:schemeClr val="tx1"/>
                </a:solidFill>
              </a:rPr>
              <a:t>. </a:t>
            </a:r>
            <a:r>
              <a:rPr lang="en-US" sz="2800" dirty="0" smtClean="0">
                <a:solidFill>
                  <a:schemeClr val="tx1"/>
                </a:solidFill>
              </a:rPr>
              <a:t>Click </a:t>
            </a:r>
            <a:r>
              <a:rPr lang="en-US" sz="2800" dirty="0">
                <a:solidFill>
                  <a:schemeClr val="tx1"/>
                </a:solidFill>
              </a:rPr>
              <a:t>on download icon near Search input to download the </a:t>
            </a:r>
            <a:r>
              <a:rPr lang="en-US" sz="2800" dirty="0" smtClean="0">
                <a:solidFill>
                  <a:schemeClr val="tx1"/>
                </a:solidFill>
              </a:rPr>
              <a:t>report.</a:t>
            </a:r>
            <a:endParaRPr lang="en-IN" sz="2800" dirty="0">
              <a:solidFill>
                <a:schemeClr val="tx1"/>
              </a:solidFill>
            </a:endParaRPr>
          </a:p>
        </p:txBody>
      </p:sp>
    </p:spTree>
    <p:extLst>
      <p:ext uri="{BB962C8B-B14F-4D97-AF65-F5344CB8AC3E}">
        <p14:creationId xmlns:p14="http://schemas.microsoft.com/office/powerpoint/2010/main" val="79543869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dirty="0"/>
          </a:p>
        </p:txBody>
      </p:sp>
      <p:pic>
        <p:nvPicPr>
          <p:cNvPr id="4" name="Picture 3"/>
          <p:cNvPicPr>
            <a:picLocks noChangeAspect="1"/>
          </p:cNvPicPr>
          <p:nvPr/>
        </p:nvPicPr>
        <p:blipFill>
          <a:blip r:embed="rId2"/>
          <a:stretch>
            <a:fillRect/>
          </a:stretch>
        </p:blipFill>
        <p:spPr>
          <a:xfrm>
            <a:off x="-2976" y="0"/>
            <a:ext cx="12197953" cy="6858000"/>
          </a:xfrm>
          <a:prstGeom prst="rect">
            <a:avLst/>
          </a:prstGeom>
        </p:spPr>
      </p:pic>
      <p:sp>
        <p:nvSpPr>
          <p:cNvPr id="5" name="Rectangle 4"/>
          <p:cNvSpPr/>
          <p:nvPr/>
        </p:nvSpPr>
        <p:spPr>
          <a:xfrm>
            <a:off x="838200" y="5760720"/>
            <a:ext cx="10515600" cy="1097279"/>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This </a:t>
            </a:r>
            <a:r>
              <a:rPr lang="en-US" sz="2800" dirty="0" smtClean="0">
                <a:solidFill>
                  <a:schemeClr val="tx1"/>
                </a:solidFill>
              </a:rPr>
              <a:t>is Convergence Report Page</a:t>
            </a:r>
            <a:r>
              <a:rPr lang="en-US" sz="2800" dirty="0">
                <a:solidFill>
                  <a:schemeClr val="tx1"/>
                </a:solidFill>
              </a:rPr>
              <a:t>. </a:t>
            </a:r>
            <a:r>
              <a:rPr lang="en-US" sz="2800" dirty="0" smtClean="0">
                <a:solidFill>
                  <a:schemeClr val="tx1"/>
                </a:solidFill>
              </a:rPr>
              <a:t>Click </a:t>
            </a:r>
            <a:r>
              <a:rPr lang="en-US" sz="2800" dirty="0">
                <a:solidFill>
                  <a:schemeClr val="tx1"/>
                </a:solidFill>
              </a:rPr>
              <a:t>on download icon near Search input to download the </a:t>
            </a:r>
            <a:r>
              <a:rPr lang="en-US" sz="2800" dirty="0" smtClean="0">
                <a:solidFill>
                  <a:schemeClr val="tx1"/>
                </a:solidFill>
              </a:rPr>
              <a:t>report.</a:t>
            </a:r>
            <a:endParaRPr lang="en-IN" sz="2800" dirty="0">
              <a:solidFill>
                <a:schemeClr val="tx1"/>
              </a:solidFill>
            </a:endParaRPr>
          </a:p>
        </p:txBody>
      </p:sp>
    </p:spTree>
    <p:extLst>
      <p:ext uri="{BB962C8B-B14F-4D97-AF65-F5344CB8AC3E}">
        <p14:creationId xmlns:p14="http://schemas.microsoft.com/office/powerpoint/2010/main" val="93788640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stretch>
            <a:fillRect/>
          </a:stretch>
        </p:blipFill>
        <p:spPr>
          <a:xfrm>
            <a:off x="0" y="1672"/>
            <a:ext cx="12194977" cy="6856327"/>
          </a:xfrm>
          <a:prstGeom prst="rect">
            <a:avLst/>
          </a:prstGeom>
        </p:spPr>
      </p:pic>
      <p:sp>
        <p:nvSpPr>
          <p:cNvPr id="5" name="Rectangle 4"/>
          <p:cNvSpPr/>
          <p:nvPr/>
        </p:nvSpPr>
        <p:spPr>
          <a:xfrm>
            <a:off x="838200" y="5760720"/>
            <a:ext cx="10515600" cy="1097279"/>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This </a:t>
            </a:r>
            <a:r>
              <a:rPr lang="en-US" sz="2800" dirty="0" smtClean="0">
                <a:solidFill>
                  <a:schemeClr val="tx1"/>
                </a:solidFill>
              </a:rPr>
              <a:t>is Plantation Report Page</a:t>
            </a:r>
            <a:r>
              <a:rPr lang="en-US" sz="2800" dirty="0">
                <a:solidFill>
                  <a:schemeClr val="tx1"/>
                </a:solidFill>
              </a:rPr>
              <a:t>. </a:t>
            </a:r>
            <a:r>
              <a:rPr lang="en-US" sz="2800" dirty="0" smtClean="0">
                <a:solidFill>
                  <a:schemeClr val="tx1"/>
                </a:solidFill>
              </a:rPr>
              <a:t>Click </a:t>
            </a:r>
            <a:r>
              <a:rPr lang="en-US" sz="2800" dirty="0">
                <a:solidFill>
                  <a:schemeClr val="tx1"/>
                </a:solidFill>
              </a:rPr>
              <a:t>on download icon near Search input to download the </a:t>
            </a:r>
            <a:r>
              <a:rPr lang="en-US" sz="2800" dirty="0" smtClean="0">
                <a:solidFill>
                  <a:schemeClr val="tx1"/>
                </a:solidFill>
              </a:rPr>
              <a:t>report.</a:t>
            </a:r>
            <a:endParaRPr lang="en-IN" sz="2800" dirty="0">
              <a:solidFill>
                <a:schemeClr val="tx1"/>
              </a:solidFill>
            </a:endParaRPr>
          </a:p>
        </p:txBody>
      </p:sp>
    </p:spTree>
    <p:extLst>
      <p:ext uri="{BB962C8B-B14F-4D97-AF65-F5344CB8AC3E}">
        <p14:creationId xmlns:p14="http://schemas.microsoft.com/office/powerpoint/2010/main" val="234524171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pic>
        <p:nvPicPr>
          <p:cNvPr id="4" name="Picture 3"/>
          <p:cNvPicPr>
            <a:picLocks noChangeAspect="1"/>
          </p:cNvPicPr>
          <p:nvPr/>
        </p:nvPicPr>
        <p:blipFill>
          <a:blip r:embed="rId2"/>
          <a:stretch>
            <a:fillRect/>
          </a:stretch>
        </p:blipFill>
        <p:spPr>
          <a:xfrm>
            <a:off x="-2976" y="0"/>
            <a:ext cx="12197953" cy="6858000"/>
          </a:xfrm>
          <a:prstGeom prst="rect">
            <a:avLst/>
          </a:prstGeom>
        </p:spPr>
      </p:pic>
      <p:sp>
        <p:nvSpPr>
          <p:cNvPr id="5" name="Rectangle 4"/>
          <p:cNvSpPr/>
          <p:nvPr/>
        </p:nvSpPr>
        <p:spPr>
          <a:xfrm>
            <a:off x="838200" y="5760720"/>
            <a:ext cx="10515600" cy="1097279"/>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This </a:t>
            </a:r>
            <a:r>
              <a:rPr lang="en-US" sz="2800" dirty="0" smtClean="0">
                <a:solidFill>
                  <a:schemeClr val="tx1"/>
                </a:solidFill>
              </a:rPr>
              <a:t>is WRD Report Page</a:t>
            </a:r>
            <a:r>
              <a:rPr lang="en-US" sz="2800" dirty="0">
                <a:solidFill>
                  <a:schemeClr val="tx1"/>
                </a:solidFill>
              </a:rPr>
              <a:t>. </a:t>
            </a:r>
            <a:r>
              <a:rPr lang="en-US" sz="2800" dirty="0" smtClean="0">
                <a:solidFill>
                  <a:schemeClr val="tx1"/>
                </a:solidFill>
              </a:rPr>
              <a:t>Click </a:t>
            </a:r>
            <a:r>
              <a:rPr lang="en-US" sz="2800" dirty="0">
                <a:solidFill>
                  <a:schemeClr val="tx1"/>
                </a:solidFill>
              </a:rPr>
              <a:t>on download icon near Search input to download the </a:t>
            </a:r>
            <a:r>
              <a:rPr lang="en-US" sz="2800" dirty="0" smtClean="0">
                <a:solidFill>
                  <a:schemeClr val="tx1"/>
                </a:solidFill>
              </a:rPr>
              <a:t>report.</a:t>
            </a:r>
            <a:endParaRPr lang="en-IN" sz="2800" dirty="0">
              <a:solidFill>
                <a:schemeClr val="tx1"/>
              </a:solidFill>
            </a:endParaRPr>
          </a:p>
        </p:txBody>
      </p:sp>
    </p:spTree>
    <p:extLst>
      <p:ext uri="{BB962C8B-B14F-4D97-AF65-F5344CB8AC3E}">
        <p14:creationId xmlns:p14="http://schemas.microsoft.com/office/powerpoint/2010/main" val="281766373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261</TotalTime>
  <Words>1443</Words>
  <Application>Microsoft Office PowerPoint</Application>
  <PresentationFormat>Widescreen</PresentationFormat>
  <Paragraphs>71</Paragraphs>
  <Slides>69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69</vt:i4>
      </vt:variant>
    </vt:vector>
  </HeadingPairs>
  <TitlesOfParts>
    <vt:vector size="73" baseType="lpstr">
      <vt:lpstr>Arial</vt:lpstr>
      <vt:lpstr>Calibri</vt:lpstr>
      <vt:lpstr>Calibri Light</vt:lpstr>
      <vt:lpstr>Office Theme</vt:lpstr>
      <vt:lpstr>OPERATION MANUAL</vt:lpstr>
      <vt:lpstr>PowerPoint Presentation</vt:lpstr>
      <vt:lpst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Admin</cp:lastModifiedBy>
  <cp:revision>68</cp:revision>
  <dcterms:created xsi:type="dcterms:W3CDTF">2025-04-21T11:11:14Z</dcterms:created>
  <dcterms:modified xsi:type="dcterms:W3CDTF">2025-04-22T09:00:02Z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name="NXPowerLiteLastOptimized" pid="2">
    <vt:lpwstr>3209464</vt:lpwstr>
  </property>
  <property fmtid="{D5CDD505-2E9C-101B-9397-08002B2CF9AE}" name="NXPowerLiteSettings" pid="3">
    <vt:lpwstr>F7000400038000</vt:lpwstr>
  </property>
  <property fmtid="{D5CDD505-2E9C-101B-9397-08002B2CF9AE}" name="NXPowerLiteVersion" pid="4">
    <vt:lpwstr>S10.3.1</vt:lpwstr>
  </property>
</Properties>
</file>